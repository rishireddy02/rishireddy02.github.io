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Cambria"/>
              </a:defRPr>
            </a:pPr>
            <a:r>
              <a:rPr sz="1200" b="0" i="0" u="none" strike="noStrike">
                <a:solidFill>
                  <a:srgbClr val="1A1A1A"/>
                </a:solidFill>
                <a:latin typeface="Cambria"/>
              </a:rPr>
              <a:t>Activation Functions</a:t>
            </a:r>
          </a:p>
        </c:rich>
      </c:tx>
      <c:layout/>
      <c:overlay val="0"/>
    </c:title>
    <c:autoTitleDeleted val="0"/>
    <c:plotArea>
      <c:layout/>
      <c:lineChart>
        <c:varyColors val="0"/>
        <c:ser>
          <c:idx val="0"/>
          <c:order val="0"/>
          <c:tx>
            <c:strRef>
              <c:f>Sheet1!$B$1</c:f>
              <c:strCache>
                <c:ptCount val="1"/>
                <c:pt idx="0">
                  <c:v>ReLU</c:v>
                </c:pt>
              </c:strCache>
            </c:strRef>
          </c:tx>
          <c:spPr>
            <a:solidFill>
              <a:srgbClr val="7A1F2B"/>
            </a:solidFill>
            <a:ln w="25400" cap="flat">
              <a:solidFill>
                <a:srgbClr val="7A1F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A1F2B"/>
              </a:solidFill>
              <a:ln w="9525" cap="flat">
                <a:solidFill>
                  <a:srgbClr val="7A1F2B"/>
                </a:solidFill>
                <a:prstDash val="solid"/>
                <a:round/>
              </a:ln>
              <a:effectLst/>
            </c:spPr>
          </c:marker>
          <c:cat>
            <c:multiLvlStrRef>
              <c:f>Sheet1!$A$2:$A$52</c:f>
              <c:multiLvlStrCache>
                <c:ptCount val="51"/>
                <c:lvl>
                  <c:pt idx="0">
                    <c:v>-5.0</c:v>
                  </c:pt>
                  <c:pt idx="1">
                    <c:v>-4.8</c:v>
                  </c:pt>
                  <c:pt idx="2">
                    <c:v>-4.6</c:v>
                  </c:pt>
                  <c:pt idx="3">
                    <c:v>-4.4</c:v>
                  </c:pt>
                  <c:pt idx="4">
                    <c:v>-4.2</c:v>
                  </c:pt>
                  <c:pt idx="5">
                    <c:v>-4.0</c:v>
                  </c:pt>
                  <c:pt idx="6">
                    <c:v>-3.8</c:v>
                  </c:pt>
                  <c:pt idx="7">
                    <c:v>-3.6</c:v>
                  </c:pt>
                  <c:pt idx="8">
                    <c:v>-3.4</c:v>
                  </c:pt>
                  <c:pt idx="9">
                    <c:v>-3.2</c:v>
                  </c:pt>
                  <c:pt idx="10">
                    <c:v>-3.0</c:v>
                  </c:pt>
                  <c:pt idx="11">
                    <c:v>-2.8</c:v>
                  </c:pt>
                  <c:pt idx="12">
                    <c:v>-2.6</c:v>
                  </c:pt>
                  <c:pt idx="13">
                    <c:v>-2.4</c:v>
                  </c:pt>
                  <c:pt idx="14">
                    <c:v>-2.2</c:v>
                  </c:pt>
                  <c:pt idx="15">
                    <c:v>-2.0</c:v>
                  </c:pt>
                  <c:pt idx="16">
                    <c:v>-1.8</c:v>
                  </c:pt>
                  <c:pt idx="17">
                    <c:v>-1.6</c:v>
                  </c:pt>
                  <c:pt idx="18">
                    <c:v>-1.4</c:v>
                  </c:pt>
                  <c:pt idx="19">
                    <c:v>-1.2</c:v>
                  </c:pt>
                  <c:pt idx="20">
                    <c:v>-1.0</c:v>
                  </c:pt>
                  <c:pt idx="21">
                    <c:v>-0.8</c:v>
                  </c:pt>
                  <c:pt idx="22">
                    <c:v>-0.6</c:v>
                  </c:pt>
                  <c:pt idx="23">
                    <c:v>-0.4</c:v>
                  </c:pt>
                  <c:pt idx="24">
                    <c:v>-0.2</c:v>
                  </c:pt>
                  <c:pt idx="25">
                    <c:v>0.0</c:v>
                  </c:pt>
                  <c:pt idx="26">
                    <c:v>0.2</c:v>
                  </c:pt>
                  <c:pt idx="27">
                    <c:v>0.4</c:v>
                  </c:pt>
                  <c:pt idx="28">
                    <c:v>0.6</c:v>
                  </c:pt>
                  <c:pt idx="29">
                    <c:v>0.8</c:v>
                  </c:pt>
                  <c:pt idx="30">
                    <c:v>1.0</c:v>
                  </c:pt>
                  <c:pt idx="31">
                    <c:v>1.2</c:v>
                  </c:pt>
                  <c:pt idx="32">
                    <c:v>1.4</c:v>
                  </c:pt>
                  <c:pt idx="33">
                    <c:v>1.6</c:v>
                  </c:pt>
                  <c:pt idx="34">
                    <c:v>1.8</c:v>
                  </c:pt>
                  <c:pt idx="35">
                    <c:v>2.0</c:v>
                  </c:pt>
                  <c:pt idx="36">
                    <c:v>2.2</c:v>
                  </c:pt>
                  <c:pt idx="37">
                    <c:v>2.4</c:v>
                  </c:pt>
                  <c:pt idx="38">
                    <c:v>2.6</c:v>
                  </c:pt>
                  <c:pt idx="39">
                    <c:v>2.8</c:v>
                  </c:pt>
                  <c:pt idx="40">
                    <c:v>3.0</c:v>
                  </c:pt>
                  <c:pt idx="41">
                    <c:v>3.2</c:v>
                  </c:pt>
                  <c:pt idx="42">
                    <c:v>3.4</c:v>
                  </c:pt>
                  <c:pt idx="43">
                    <c:v>3.6</c:v>
                  </c:pt>
                  <c:pt idx="44">
                    <c:v>3.8</c:v>
                  </c:pt>
                  <c:pt idx="45">
                    <c:v>4.0</c:v>
                  </c:pt>
                  <c:pt idx="46">
                    <c:v>4.2</c:v>
                  </c:pt>
                  <c:pt idx="47">
                    <c:v>4.4</c:v>
                  </c:pt>
                  <c:pt idx="48">
                    <c:v>4.6</c:v>
                  </c:pt>
                  <c:pt idx="49">
                    <c:v>4.8</c:v>
                  </c:pt>
                  <c:pt idx="50">
                    <c:v>5.0</c:v>
                  </c:pt>
                </c:lvl>
              </c:multiLvlStrCache>
            </c:multiLvlStrRef>
          </c:cat>
          <c:val>
            <c:numRef>
              <c:f>Sheet1!$B$2:$B$52</c:f>
              <c:numCache>
                <c:formatCode>General</c:formatCode>
                <c:ptCount val="5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0.2</c:v>
                </c:pt>
                <c:pt idx="27">
                  <c:v>0.4</c:v>
                </c:pt>
                <c:pt idx="28">
                  <c:v>0.6</c:v>
                </c:pt>
                <c:pt idx="29">
                  <c:v>0.8</c:v>
                </c:pt>
                <c:pt idx="30">
                  <c:v>1</c:v>
                </c:pt>
                <c:pt idx="31">
                  <c:v>1.2</c:v>
                </c:pt>
                <c:pt idx="32">
                  <c:v>1.4</c:v>
                </c:pt>
                <c:pt idx="33">
                  <c:v>1.6</c:v>
                </c:pt>
                <c:pt idx="34">
                  <c:v>1.8</c:v>
                </c:pt>
                <c:pt idx="35">
                  <c:v>2</c:v>
                </c:pt>
                <c:pt idx="36">
                  <c:v>2.2</c:v>
                </c:pt>
                <c:pt idx="37">
                  <c:v>2.4</c:v>
                </c:pt>
                <c:pt idx="38">
                  <c:v>2.6</c:v>
                </c:pt>
                <c:pt idx="39">
                  <c:v>2.8</c:v>
                </c:pt>
                <c:pt idx="40">
                  <c:v>3</c:v>
                </c:pt>
                <c:pt idx="41">
                  <c:v>3.2</c:v>
                </c:pt>
                <c:pt idx="42">
                  <c:v>3.4</c:v>
                </c:pt>
                <c:pt idx="43">
                  <c:v>3.6</c:v>
                </c:pt>
                <c:pt idx="44">
                  <c:v>3.8</c:v>
                </c:pt>
                <c:pt idx="45">
                  <c:v>4</c:v>
                </c:pt>
                <c:pt idx="46">
                  <c:v>4.2</c:v>
                </c:pt>
                <c:pt idx="47">
                  <c:v>4.4</c:v>
                </c:pt>
                <c:pt idx="48">
                  <c:v>4.6</c:v>
                </c:pt>
                <c:pt idx="49">
                  <c:v>4.8</c:v>
                </c:pt>
                <c:pt idx="50">
                  <c:v>5</c:v>
                </c:pt>
              </c:numCache>
            </c:numRef>
          </c:val>
          <c:smooth val="0"/>
        </c:ser>
        <c:ser>
          <c:idx val="1"/>
          <c:order val="1"/>
          <c:tx>
            <c:strRef>
              <c:f>Sheet1!$C$1</c:f>
              <c:strCache>
                <c:ptCount val="1"/>
                <c:pt idx="0">
                  <c:v>Sigmoid</c:v>
                </c:pt>
              </c:strCache>
            </c:strRef>
          </c:tx>
          <c:spPr>
            <a:solidFill>
              <a:srgbClr val="1E2A44"/>
            </a:solidFill>
            <a:ln w="25400" cap="flat">
              <a:solidFill>
                <a:srgbClr val="1E2A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A44"/>
              </a:solidFill>
              <a:ln w="9525" cap="flat">
                <a:solidFill>
                  <a:srgbClr val="1E2A44"/>
                </a:solidFill>
                <a:prstDash val="solid"/>
                <a:round/>
              </a:ln>
              <a:effectLst/>
            </c:spPr>
          </c:marker>
          <c:cat>
            <c:multiLvlStrRef>
              <c:f>Sheet1!$A$2:$A$52</c:f>
              <c:multiLvlStrCache>
                <c:ptCount val="51"/>
                <c:lvl>
                  <c:pt idx="0">
                    <c:v>-5.0</c:v>
                  </c:pt>
                  <c:pt idx="1">
                    <c:v>-4.8</c:v>
                  </c:pt>
                  <c:pt idx="2">
                    <c:v>-4.6</c:v>
                  </c:pt>
                  <c:pt idx="3">
                    <c:v>-4.4</c:v>
                  </c:pt>
                  <c:pt idx="4">
                    <c:v>-4.2</c:v>
                  </c:pt>
                  <c:pt idx="5">
                    <c:v>-4.0</c:v>
                  </c:pt>
                  <c:pt idx="6">
                    <c:v>-3.8</c:v>
                  </c:pt>
                  <c:pt idx="7">
                    <c:v>-3.6</c:v>
                  </c:pt>
                  <c:pt idx="8">
                    <c:v>-3.4</c:v>
                  </c:pt>
                  <c:pt idx="9">
                    <c:v>-3.2</c:v>
                  </c:pt>
                  <c:pt idx="10">
                    <c:v>-3.0</c:v>
                  </c:pt>
                  <c:pt idx="11">
                    <c:v>-2.8</c:v>
                  </c:pt>
                  <c:pt idx="12">
                    <c:v>-2.6</c:v>
                  </c:pt>
                  <c:pt idx="13">
                    <c:v>-2.4</c:v>
                  </c:pt>
                  <c:pt idx="14">
                    <c:v>-2.2</c:v>
                  </c:pt>
                  <c:pt idx="15">
                    <c:v>-2.0</c:v>
                  </c:pt>
                  <c:pt idx="16">
                    <c:v>-1.8</c:v>
                  </c:pt>
                  <c:pt idx="17">
                    <c:v>-1.6</c:v>
                  </c:pt>
                  <c:pt idx="18">
                    <c:v>-1.4</c:v>
                  </c:pt>
                  <c:pt idx="19">
                    <c:v>-1.2</c:v>
                  </c:pt>
                  <c:pt idx="20">
                    <c:v>-1.0</c:v>
                  </c:pt>
                  <c:pt idx="21">
                    <c:v>-0.8</c:v>
                  </c:pt>
                  <c:pt idx="22">
                    <c:v>-0.6</c:v>
                  </c:pt>
                  <c:pt idx="23">
                    <c:v>-0.4</c:v>
                  </c:pt>
                  <c:pt idx="24">
                    <c:v>-0.2</c:v>
                  </c:pt>
                  <c:pt idx="25">
                    <c:v>0.0</c:v>
                  </c:pt>
                  <c:pt idx="26">
                    <c:v>0.2</c:v>
                  </c:pt>
                  <c:pt idx="27">
                    <c:v>0.4</c:v>
                  </c:pt>
                  <c:pt idx="28">
                    <c:v>0.6</c:v>
                  </c:pt>
                  <c:pt idx="29">
                    <c:v>0.8</c:v>
                  </c:pt>
                  <c:pt idx="30">
                    <c:v>1.0</c:v>
                  </c:pt>
                  <c:pt idx="31">
                    <c:v>1.2</c:v>
                  </c:pt>
                  <c:pt idx="32">
                    <c:v>1.4</c:v>
                  </c:pt>
                  <c:pt idx="33">
                    <c:v>1.6</c:v>
                  </c:pt>
                  <c:pt idx="34">
                    <c:v>1.8</c:v>
                  </c:pt>
                  <c:pt idx="35">
                    <c:v>2.0</c:v>
                  </c:pt>
                  <c:pt idx="36">
                    <c:v>2.2</c:v>
                  </c:pt>
                  <c:pt idx="37">
                    <c:v>2.4</c:v>
                  </c:pt>
                  <c:pt idx="38">
                    <c:v>2.6</c:v>
                  </c:pt>
                  <c:pt idx="39">
                    <c:v>2.8</c:v>
                  </c:pt>
                  <c:pt idx="40">
                    <c:v>3.0</c:v>
                  </c:pt>
                  <c:pt idx="41">
                    <c:v>3.2</c:v>
                  </c:pt>
                  <c:pt idx="42">
                    <c:v>3.4</c:v>
                  </c:pt>
                  <c:pt idx="43">
                    <c:v>3.6</c:v>
                  </c:pt>
                  <c:pt idx="44">
                    <c:v>3.8</c:v>
                  </c:pt>
                  <c:pt idx="45">
                    <c:v>4.0</c:v>
                  </c:pt>
                  <c:pt idx="46">
                    <c:v>4.2</c:v>
                  </c:pt>
                  <c:pt idx="47">
                    <c:v>4.4</c:v>
                  </c:pt>
                  <c:pt idx="48">
                    <c:v>4.6</c:v>
                  </c:pt>
                  <c:pt idx="49">
                    <c:v>4.8</c:v>
                  </c:pt>
                  <c:pt idx="50">
                    <c:v>5.0</c:v>
                  </c:pt>
                </c:lvl>
              </c:multiLvlStrCache>
            </c:multiLvlStrRef>
          </c:cat>
          <c:val>
            <c:numRef>
              <c:f>Sheet1!$C$2:$C$52</c:f>
              <c:numCache>
                <c:formatCode>General</c:formatCode>
                <c:ptCount val="51"/>
                <c:pt idx="0">
                  <c:v>0.0066928509242848554</c:v>
                </c:pt>
                <c:pt idx="1">
                  <c:v>0.008162571153159897</c:v>
                </c:pt>
                <c:pt idx="2">
                  <c:v>0.009951801866904324</c:v>
                </c:pt>
                <c:pt idx="3">
                  <c:v>0.012128434984274237</c:v>
                </c:pt>
                <c:pt idx="4">
                  <c:v>0.014774031693273055</c:v>
                </c:pt>
                <c:pt idx="5">
                  <c:v>0.01798620996209156</c:v>
                </c:pt>
                <c:pt idx="6">
                  <c:v>0.021881270936130476</c:v>
                </c:pt>
                <c:pt idx="7">
                  <c:v>0.026596993576865856</c:v>
                </c:pt>
                <c:pt idx="8">
                  <c:v>0.032295464698450516</c:v>
                </c:pt>
                <c:pt idx="9">
                  <c:v>0.039165722796764356</c:v>
                </c:pt>
                <c:pt idx="10">
                  <c:v>0.04742587317756678</c:v>
                </c:pt>
                <c:pt idx="11">
                  <c:v>0.057324175898868755</c:v>
                </c:pt>
                <c:pt idx="12">
                  <c:v>0.06913842034334682</c:v>
                </c:pt>
                <c:pt idx="13">
                  <c:v>0.08317269649392238</c:v>
                </c:pt>
                <c:pt idx="14">
                  <c:v>0.09975048911968513</c:v>
                </c:pt>
                <c:pt idx="15">
                  <c:v>0.11920292202211755</c:v>
                </c:pt>
                <c:pt idx="16">
                  <c:v>0.14185106490048777</c:v>
                </c:pt>
                <c:pt idx="17">
                  <c:v>0.16798161486607552</c:v>
                </c:pt>
                <c:pt idx="18">
                  <c:v>0.19781611144141825</c:v>
                </c:pt>
                <c:pt idx="19">
                  <c:v>0.23147521650098238</c:v>
                </c:pt>
                <c:pt idx="20">
                  <c:v>0.2689414213699951</c:v>
                </c:pt>
                <c:pt idx="21">
                  <c:v>0.31002551887238755</c:v>
                </c:pt>
                <c:pt idx="22">
                  <c:v>0.35434369377420455</c:v>
                </c:pt>
                <c:pt idx="23">
                  <c:v>0.401312339887548</c:v>
                </c:pt>
                <c:pt idx="24">
                  <c:v>0.45016600268752216</c:v>
                </c:pt>
                <c:pt idx="25">
                  <c:v>0.5</c:v>
                </c:pt>
                <c:pt idx="26">
                  <c:v>0.549833997312478</c:v>
                </c:pt>
                <c:pt idx="27">
                  <c:v>0.598687660112452</c:v>
                </c:pt>
                <c:pt idx="28">
                  <c:v>0.6456563062257954</c:v>
                </c:pt>
                <c:pt idx="29">
                  <c:v>0.6899744811276125</c:v>
                </c:pt>
                <c:pt idx="30">
                  <c:v>0.7310585786300049</c:v>
                </c:pt>
                <c:pt idx="31">
                  <c:v>0.7685247834990175</c:v>
                </c:pt>
                <c:pt idx="32">
                  <c:v>0.8021838885585817</c:v>
                </c:pt>
                <c:pt idx="33">
                  <c:v>0.8320183851339245</c:v>
                </c:pt>
                <c:pt idx="34">
                  <c:v>0.8581489350995123</c:v>
                </c:pt>
                <c:pt idx="35">
                  <c:v>0.8807970779778823</c:v>
                </c:pt>
                <c:pt idx="36">
                  <c:v>0.9002495108803148</c:v>
                </c:pt>
                <c:pt idx="37">
                  <c:v>0.9168273035060777</c:v>
                </c:pt>
                <c:pt idx="38">
                  <c:v>0.9308615796566533</c:v>
                </c:pt>
                <c:pt idx="39">
                  <c:v>0.9426758241011313</c:v>
                </c:pt>
                <c:pt idx="40">
                  <c:v>0.9525741268224334</c:v>
                </c:pt>
                <c:pt idx="41">
                  <c:v>0.9608342772032357</c:v>
                </c:pt>
                <c:pt idx="42">
                  <c:v>0.9677045353015494</c:v>
                </c:pt>
                <c:pt idx="43">
                  <c:v>0.973403006423134</c:v>
                </c:pt>
                <c:pt idx="44">
                  <c:v>0.9781187290638694</c:v>
                </c:pt>
                <c:pt idx="45">
                  <c:v>0.9820137900379085</c:v>
                </c:pt>
                <c:pt idx="46">
                  <c:v>0.9852259683067269</c:v>
                </c:pt>
                <c:pt idx="47">
                  <c:v>0.9878715650157257</c:v>
                </c:pt>
                <c:pt idx="48">
                  <c:v>0.9900481981330957</c:v>
                </c:pt>
                <c:pt idx="49">
                  <c:v>0.9918374288468401</c:v>
                </c:pt>
                <c:pt idx="50">
                  <c:v>0.9933071490757153</c:v>
                </c:pt>
              </c:numCache>
            </c:numRef>
          </c:val>
          <c:smooth val="0"/>
        </c:ser>
        <c:ser>
          <c:idx val="2"/>
          <c:order val="2"/>
          <c:tx>
            <c:strRef>
              <c:f>Sheet1!$D$1</c:f>
              <c:strCache>
                <c:ptCount val="1"/>
                <c:pt idx="0">
                  <c:v>Tanh</c:v>
                </c:pt>
              </c:strCache>
            </c:strRef>
          </c:tx>
          <c:spPr>
            <a:solidFill>
              <a:srgbClr val="2D7A7E"/>
            </a:solidFill>
            <a:ln w="25400" cap="flat">
              <a:solidFill>
                <a:srgbClr val="2D7A7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7A7E"/>
              </a:solidFill>
              <a:ln w="9525" cap="flat">
                <a:solidFill>
                  <a:srgbClr val="2D7A7E"/>
                </a:solidFill>
                <a:prstDash val="solid"/>
                <a:round/>
              </a:ln>
              <a:effectLst/>
            </c:spPr>
          </c:marker>
          <c:cat>
            <c:multiLvlStrRef>
              <c:f>Sheet1!$A$2:$A$52</c:f>
              <c:multiLvlStrCache>
                <c:ptCount val="51"/>
                <c:lvl>
                  <c:pt idx="0">
                    <c:v>-5.0</c:v>
                  </c:pt>
                  <c:pt idx="1">
                    <c:v>-4.8</c:v>
                  </c:pt>
                  <c:pt idx="2">
                    <c:v>-4.6</c:v>
                  </c:pt>
                  <c:pt idx="3">
                    <c:v>-4.4</c:v>
                  </c:pt>
                  <c:pt idx="4">
                    <c:v>-4.2</c:v>
                  </c:pt>
                  <c:pt idx="5">
                    <c:v>-4.0</c:v>
                  </c:pt>
                  <c:pt idx="6">
                    <c:v>-3.8</c:v>
                  </c:pt>
                  <c:pt idx="7">
                    <c:v>-3.6</c:v>
                  </c:pt>
                  <c:pt idx="8">
                    <c:v>-3.4</c:v>
                  </c:pt>
                  <c:pt idx="9">
                    <c:v>-3.2</c:v>
                  </c:pt>
                  <c:pt idx="10">
                    <c:v>-3.0</c:v>
                  </c:pt>
                  <c:pt idx="11">
                    <c:v>-2.8</c:v>
                  </c:pt>
                  <c:pt idx="12">
                    <c:v>-2.6</c:v>
                  </c:pt>
                  <c:pt idx="13">
                    <c:v>-2.4</c:v>
                  </c:pt>
                  <c:pt idx="14">
                    <c:v>-2.2</c:v>
                  </c:pt>
                  <c:pt idx="15">
                    <c:v>-2.0</c:v>
                  </c:pt>
                  <c:pt idx="16">
                    <c:v>-1.8</c:v>
                  </c:pt>
                  <c:pt idx="17">
                    <c:v>-1.6</c:v>
                  </c:pt>
                  <c:pt idx="18">
                    <c:v>-1.4</c:v>
                  </c:pt>
                  <c:pt idx="19">
                    <c:v>-1.2</c:v>
                  </c:pt>
                  <c:pt idx="20">
                    <c:v>-1.0</c:v>
                  </c:pt>
                  <c:pt idx="21">
                    <c:v>-0.8</c:v>
                  </c:pt>
                  <c:pt idx="22">
                    <c:v>-0.6</c:v>
                  </c:pt>
                  <c:pt idx="23">
                    <c:v>-0.4</c:v>
                  </c:pt>
                  <c:pt idx="24">
                    <c:v>-0.2</c:v>
                  </c:pt>
                  <c:pt idx="25">
                    <c:v>0.0</c:v>
                  </c:pt>
                  <c:pt idx="26">
                    <c:v>0.2</c:v>
                  </c:pt>
                  <c:pt idx="27">
                    <c:v>0.4</c:v>
                  </c:pt>
                  <c:pt idx="28">
                    <c:v>0.6</c:v>
                  </c:pt>
                  <c:pt idx="29">
                    <c:v>0.8</c:v>
                  </c:pt>
                  <c:pt idx="30">
                    <c:v>1.0</c:v>
                  </c:pt>
                  <c:pt idx="31">
                    <c:v>1.2</c:v>
                  </c:pt>
                  <c:pt idx="32">
                    <c:v>1.4</c:v>
                  </c:pt>
                  <c:pt idx="33">
                    <c:v>1.6</c:v>
                  </c:pt>
                  <c:pt idx="34">
                    <c:v>1.8</c:v>
                  </c:pt>
                  <c:pt idx="35">
                    <c:v>2.0</c:v>
                  </c:pt>
                  <c:pt idx="36">
                    <c:v>2.2</c:v>
                  </c:pt>
                  <c:pt idx="37">
                    <c:v>2.4</c:v>
                  </c:pt>
                  <c:pt idx="38">
                    <c:v>2.6</c:v>
                  </c:pt>
                  <c:pt idx="39">
                    <c:v>2.8</c:v>
                  </c:pt>
                  <c:pt idx="40">
                    <c:v>3.0</c:v>
                  </c:pt>
                  <c:pt idx="41">
                    <c:v>3.2</c:v>
                  </c:pt>
                  <c:pt idx="42">
                    <c:v>3.4</c:v>
                  </c:pt>
                  <c:pt idx="43">
                    <c:v>3.6</c:v>
                  </c:pt>
                  <c:pt idx="44">
                    <c:v>3.8</c:v>
                  </c:pt>
                  <c:pt idx="45">
                    <c:v>4.0</c:v>
                  </c:pt>
                  <c:pt idx="46">
                    <c:v>4.2</c:v>
                  </c:pt>
                  <c:pt idx="47">
                    <c:v>4.4</c:v>
                  </c:pt>
                  <c:pt idx="48">
                    <c:v>4.6</c:v>
                  </c:pt>
                  <c:pt idx="49">
                    <c:v>4.8</c:v>
                  </c:pt>
                  <c:pt idx="50">
                    <c:v>5.0</c:v>
                  </c:pt>
                </c:lvl>
              </c:multiLvlStrCache>
            </c:multiLvlStrRef>
          </c:cat>
          <c:val>
            <c:numRef>
              <c:f>Sheet1!$D$2:$D$52</c:f>
              <c:numCache>
                <c:formatCode>General</c:formatCode>
                <c:ptCount val="51"/>
                <c:pt idx="0">
                  <c:v>-0.9999092042625951</c:v>
                </c:pt>
                <c:pt idx="1">
                  <c:v>-0.9998645517007605</c:v>
                </c:pt>
                <c:pt idx="2">
                  <c:v>-0.9997979416121845</c:v>
                </c:pt>
                <c:pt idx="3">
                  <c:v>-0.9996985792838805</c:v>
                </c:pt>
                <c:pt idx="4">
                  <c:v>-0.9995503664595334</c:v>
                </c:pt>
                <c:pt idx="5">
                  <c:v>-0.999329299739067</c:v>
                </c:pt>
                <c:pt idx="6">
                  <c:v>-0.9989995977858409</c:v>
                </c:pt>
                <c:pt idx="7">
                  <c:v>-0.9985079423323266</c:v>
                </c:pt>
                <c:pt idx="8">
                  <c:v>-0.9977749279342794</c:v>
                </c:pt>
                <c:pt idx="9">
                  <c:v>-0.9966823978396512</c:v>
                </c:pt>
                <c:pt idx="10">
                  <c:v>-0.9950547536867305</c:v>
                </c:pt>
                <c:pt idx="11">
                  <c:v>-0.992631520201128</c:v>
                </c:pt>
                <c:pt idx="12">
                  <c:v>-0.9890274022010992</c:v>
                </c:pt>
                <c:pt idx="13">
                  <c:v>-0.9836748576936802</c:v>
                </c:pt>
                <c:pt idx="14">
                  <c:v>-0.9757431300314515</c:v>
                </c:pt>
                <c:pt idx="15">
                  <c:v>-0.9640275800758169</c:v>
                </c:pt>
                <c:pt idx="16">
                  <c:v>-0.9468060128462683</c:v>
                </c:pt>
                <c:pt idx="17">
                  <c:v>-0.9216685544064713</c:v>
                </c:pt>
                <c:pt idx="18">
                  <c:v>-0.8853516482022625</c:v>
                </c:pt>
                <c:pt idx="19">
                  <c:v>-0.8336546070121552</c:v>
                </c:pt>
                <c:pt idx="20">
                  <c:v>-0.7615941559557649</c:v>
                </c:pt>
                <c:pt idx="21">
                  <c:v>-0.6640367702678491</c:v>
                </c:pt>
                <c:pt idx="22">
                  <c:v>-0.5370495669980353</c:v>
                </c:pt>
                <c:pt idx="23">
                  <c:v>-0.3799489622552249</c:v>
                </c:pt>
                <c:pt idx="24">
                  <c:v>-0.197375320224904</c:v>
                </c:pt>
                <c:pt idx="25">
                  <c:v>0</c:v>
                </c:pt>
                <c:pt idx="26">
                  <c:v>0.197375320224904</c:v>
                </c:pt>
                <c:pt idx="27">
                  <c:v>0.3799489622552249</c:v>
                </c:pt>
                <c:pt idx="28">
                  <c:v>0.5370495669980353</c:v>
                </c:pt>
                <c:pt idx="29">
                  <c:v>0.6640367702678491</c:v>
                </c:pt>
                <c:pt idx="30">
                  <c:v>0.7615941559557649</c:v>
                </c:pt>
                <c:pt idx="31">
                  <c:v>0.8336546070121552</c:v>
                </c:pt>
                <c:pt idx="32">
                  <c:v>0.8853516482022625</c:v>
                </c:pt>
                <c:pt idx="33">
                  <c:v>0.9216685544064713</c:v>
                </c:pt>
                <c:pt idx="34">
                  <c:v>0.9468060128462683</c:v>
                </c:pt>
                <c:pt idx="35">
                  <c:v>0.9640275800758169</c:v>
                </c:pt>
                <c:pt idx="36">
                  <c:v>0.9757431300314515</c:v>
                </c:pt>
                <c:pt idx="37">
                  <c:v>0.9836748576936802</c:v>
                </c:pt>
                <c:pt idx="38">
                  <c:v>0.9890274022010992</c:v>
                </c:pt>
                <c:pt idx="39">
                  <c:v>0.992631520201128</c:v>
                </c:pt>
                <c:pt idx="40">
                  <c:v>0.9950547536867305</c:v>
                </c:pt>
                <c:pt idx="41">
                  <c:v>0.9966823978396512</c:v>
                </c:pt>
                <c:pt idx="42">
                  <c:v>0.9977749279342794</c:v>
                </c:pt>
                <c:pt idx="43">
                  <c:v>0.9985079423323266</c:v>
                </c:pt>
                <c:pt idx="44">
                  <c:v>0.9989995977858409</c:v>
                </c:pt>
                <c:pt idx="45">
                  <c:v>0.999329299739067</c:v>
                </c:pt>
                <c:pt idx="46">
                  <c:v>0.9995503664595334</c:v>
                </c:pt>
                <c:pt idx="47">
                  <c:v>0.9996985792838805</c:v>
                </c:pt>
                <c:pt idx="48">
                  <c:v>0.9997979416121845</c:v>
                </c:pt>
                <c:pt idx="49">
                  <c:v>0.9998645517007605</c:v>
                </c:pt>
                <c:pt idx="50">
                  <c:v>0.9999092042625951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5A5A"/>
                </a:solidFill>
                <a:latin typeface="Arial"/>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6350" cap="flat">
              <a:solidFill>
                <a:srgbClr val="E8E6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5A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A5A5A"/>
              </a:solidFill>
            </a:defRPr>
          </a:pPr>
          <a:endParaRPr lang="en-US"/>
        </a:p>
      </c:txPr>
    </c:legend>
    <c:plotVisOnly val="1"/>
    <c:dispBlanksAs val="span"/>
  </c:chart>
  <c:spPr>
    <a:solidFill>
      <a:srgbClr val="FFFFFF"/>
    </a:solidFill>
    <a:ln w="6350" cap="flat">
      <a:solidFill>
        <a:srgbClr val="D4D4C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Cambria"/>
              </a:defRPr>
            </a:pPr>
            <a:r>
              <a:rPr sz="1200" b="0" i="0" u="none" strike="noStrike">
                <a:solidFill>
                  <a:srgbClr val="1A1A1A"/>
                </a:solidFill>
                <a:latin typeface="Cambria"/>
              </a:rPr>
              <a:t>Loss Decreasing Over Training Epochs</a:t>
            </a:r>
          </a:p>
        </c:rich>
      </c:tx>
      <c:layout/>
      <c:overlay val="0"/>
    </c:title>
    <c:autoTitleDeleted val="0"/>
    <c:plotArea>
      <c:layout/>
      <c:lineChart>
        <c:varyColors val="0"/>
        <c:ser>
          <c:idx val="0"/>
          <c:order val="0"/>
          <c:tx>
            <c:strRef>
              <c:f>Sheet1!$B$1</c:f>
              <c:strCache>
                <c:ptCount val="1"/>
                <c:pt idx="0">
                  <c:v>Training Loss</c:v>
                </c:pt>
              </c:strCache>
            </c:strRef>
          </c:tx>
          <c:spPr>
            <a:solidFill>
              <a:srgbClr val="7A1F2B"/>
            </a:solidFill>
            <a:ln w="31750" cap="flat">
              <a:solidFill>
                <a:srgbClr val="7A1F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A1F2B"/>
              </a:solidFill>
              <a:ln w="9525" cap="flat">
                <a:solidFill>
                  <a:srgbClr val="7A1F2B"/>
                </a:solidFill>
                <a:prstDash val="solid"/>
                <a:round/>
              </a:ln>
              <a:effectLst/>
            </c:spPr>
          </c:marker>
          <c:cat>
            <c:multiLvlStrRef>
              <c:f>Sheet1!$A$2:$A$27</c:f>
              <c:multiLvlStrCache>
                <c:ptCount val="26"/>
                <c:lvl>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pt idx="20">
                    <c:v>80</c:v>
                  </c:pt>
                  <c:pt idx="21">
                    <c:v>84</c:v>
                  </c:pt>
                  <c:pt idx="22">
                    <c:v>88</c:v>
                  </c:pt>
                  <c:pt idx="23">
                    <c:v>92</c:v>
                  </c:pt>
                  <c:pt idx="24">
                    <c:v>96</c:v>
                  </c:pt>
                  <c:pt idx="25">
                    <c:v>100</c:v>
                  </c:pt>
                </c:lvl>
              </c:multiLvlStrCache>
            </c:multiLvlStrRef>
          </c:cat>
          <c:val>
            <c:numRef>
              <c:f>Sheet1!$B$2:$B$27</c:f>
              <c:numCache>
                <c:formatCode>General</c:formatCode>
                <c:ptCount val="26"/>
                <c:pt idx="0">
                  <c:v>2.68</c:v>
                </c:pt>
                <c:pt idx="1">
                  <c:v>2.2290756263313733</c:v>
                </c:pt>
                <c:pt idx="2">
                  <c:v>1.8306985418968211</c:v>
                </c:pt>
                <c:pt idx="3">
                  <c:v>1.4704751550098736</c:v>
                </c:pt>
                <c:pt idx="4">
                  <c:v>1.1730013376058832</c:v>
                </c:pt>
                <c:pt idx="5">
                  <c:v>0.9617565134838401</c:v>
                </c:pt>
                <c:pt idx="6">
                  <c:v>0.8277549767123704</c:v>
                </c:pt>
                <c:pt idx="7">
                  <c:v>0.7323995669913588</c:v>
                </c:pt>
                <c:pt idx="8">
                  <c:v>0.6373574850225261</c:v>
                </c:pt>
                <c:pt idx="9">
                  <c:v>0.531908733300539</c:v>
                </c:pt>
                <c:pt idx="10">
                  <c:v>0.43416147296799584</c:v>
                </c:pt>
                <c:pt idx="11">
                  <c:v>0.36811778785017185</c:v>
                </c:pt>
                <c:pt idx="12">
                  <c:v>0.3392427628518945</c:v>
                </c:pt>
                <c:pt idx="13">
                  <c:v>0.32969203822388415</c:v>
                </c:pt>
                <c:pt idx="14">
                  <c:v>0.31475139465029545</c:v>
                </c:pt>
                <c:pt idx="15">
                  <c:v>0.2835386350023861</c:v>
                </c:pt>
                <c:pt idx="16">
                  <c:v>0.2454687709604923</c:v>
                </c:pt>
                <c:pt idx="17">
                  <c:v>0.21861186979332534</c:v>
                </c:pt>
                <c:pt idx="18">
                  <c:v>0.21221751650498488</c:v>
                </c:pt>
                <c:pt idx="19">
                  <c:v>0.2191988904804137</c:v>
                </c:pt>
                <c:pt idx="20">
                  <c:v>0.22379805646344222</c:v>
                </c:pt>
                <c:pt idx="21">
                  <c:v>0.21588791079839506</c:v>
                </c:pt>
                <c:pt idx="22">
                  <c:v>0.19870194443668548</c:v>
                </c:pt>
                <c:pt idx="23">
                  <c:v>0.18411582209743843</c:v>
                </c:pt>
                <c:pt idx="24">
                  <c:v>0.18109988790095213</c:v>
                </c:pt>
                <c:pt idx="25">
                  <c:v>0.18816491935350263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5A5A"/>
                </a:solidFill>
                <a:latin typeface="Arial"/>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6350" cap="flat">
              <a:solidFill>
                <a:srgbClr val="E8E6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5A5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w="6350" cap="flat">
      <a:solidFill>
        <a:srgbClr val="D4D4C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L(w)</c:v>
                </c:pt>
              </c:strCache>
            </c:strRef>
          </c:tx>
          <c:spPr>
            <a:solidFill>
              <a:srgbClr val="7A1F2B"/>
            </a:solidFill>
            <a:ln>
              <a:noFill/>
            </a:ln>
            <a:effectLst/>
          </c:spPr>
          <c:marker>
            <c:symbol val="circle"/>
            <c:size val="6"/>
            <c:spPr>
              <a:solidFill>
                <a:srgbClr val="7A1F2B"/>
              </a:solidFill>
              <a:ln w="9525" cap="flat">
                <a:solidFill>
                  <a:srgbClr val="7A1F2B"/>
                </a:solidFill>
                <a:prstDash val="solid"/>
                <a:round/>
              </a:ln>
              <a:effectLst/>
            </c:spPr>
          </c:marker>
          <c:xVal>
            <c:numRef>
              <c:f>Sheet1!$A$2:$A$102</c:f>
              <c:numCache>
                <c:formatCode>General</c:formatCode>
                <c:ptCount val="101"/>
                <c:pt idx="0">
                  <c:v>-2</c:v>
                </c:pt>
                <c:pt idx="1">
                  <c:v>-1.96</c:v>
                </c:pt>
                <c:pt idx="2">
                  <c:v>-1.92</c:v>
                </c:pt>
                <c:pt idx="3">
                  <c:v>-1.88</c:v>
                </c:pt>
                <c:pt idx="4">
                  <c:v>-1.84</c:v>
                </c:pt>
                <c:pt idx="5">
                  <c:v>-1.8</c:v>
                </c:pt>
                <c:pt idx="6">
                  <c:v>-1.76</c:v>
                </c:pt>
                <c:pt idx="7">
                  <c:v>-1.72</c:v>
                </c:pt>
                <c:pt idx="8">
                  <c:v>-1.68</c:v>
                </c:pt>
                <c:pt idx="9">
                  <c:v>-1.64</c:v>
                </c:pt>
                <c:pt idx="10">
                  <c:v>-1.6</c:v>
                </c:pt>
                <c:pt idx="11">
                  <c:v>-1.56</c:v>
                </c:pt>
                <c:pt idx="12">
                  <c:v>-1.52</c:v>
                </c:pt>
                <c:pt idx="13">
                  <c:v>-1.48</c:v>
                </c:pt>
                <c:pt idx="14">
                  <c:v>-1.44</c:v>
                </c:pt>
                <c:pt idx="15">
                  <c:v>-1.4</c:v>
                </c:pt>
                <c:pt idx="16">
                  <c:v>-1.36</c:v>
                </c:pt>
                <c:pt idx="17">
                  <c:v>-1.32</c:v>
                </c:pt>
                <c:pt idx="18">
                  <c:v>-1.28</c:v>
                </c:pt>
                <c:pt idx="19">
                  <c:v>-1.24</c:v>
                </c:pt>
                <c:pt idx="20">
                  <c:v>-1.2</c:v>
                </c:pt>
                <c:pt idx="21">
                  <c:v>-1.16</c:v>
                </c:pt>
                <c:pt idx="22">
                  <c:v>-1.12</c:v>
                </c:pt>
                <c:pt idx="23">
                  <c:v>-1.08</c:v>
                </c:pt>
                <c:pt idx="24">
                  <c:v>-1.04</c:v>
                </c:pt>
                <c:pt idx="25">
                  <c:v>-1</c:v>
                </c:pt>
                <c:pt idx="26">
                  <c:v>-0.96</c:v>
                </c:pt>
                <c:pt idx="27">
                  <c:v>-0.92</c:v>
                </c:pt>
                <c:pt idx="28">
                  <c:v>-0.88</c:v>
                </c:pt>
                <c:pt idx="29">
                  <c:v>-0.84</c:v>
                </c:pt>
                <c:pt idx="30">
                  <c:v>-0.8</c:v>
                </c:pt>
                <c:pt idx="31">
                  <c:v>-0.76</c:v>
                </c:pt>
                <c:pt idx="32">
                  <c:v>-0.72</c:v>
                </c:pt>
                <c:pt idx="33">
                  <c:v>-0.68</c:v>
                </c:pt>
                <c:pt idx="34">
                  <c:v>-0.64</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0.32</c:v>
                </c:pt>
                <c:pt idx="59">
                  <c:v>0.36</c:v>
                </c:pt>
                <c:pt idx="60">
                  <c:v>0.4</c:v>
                </c:pt>
                <c:pt idx="61">
                  <c:v>0.44</c:v>
                </c:pt>
                <c:pt idx="62">
                  <c:v>0.48</c:v>
                </c:pt>
                <c:pt idx="63">
                  <c:v>0.52</c:v>
                </c:pt>
                <c:pt idx="64">
                  <c:v>0.56</c:v>
                </c:pt>
                <c:pt idx="65">
                  <c:v>0.6</c:v>
                </c:pt>
                <c:pt idx="66">
                  <c:v>0.64</c:v>
                </c:pt>
                <c:pt idx="67">
                  <c:v>0.68</c:v>
                </c:pt>
                <c:pt idx="68">
                  <c:v>0.72</c:v>
                </c:pt>
                <c:pt idx="69">
                  <c:v>0.76</c:v>
                </c:pt>
                <c:pt idx="70">
                  <c:v>0.8</c:v>
                </c:pt>
                <c:pt idx="71">
                  <c:v>0.84</c:v>
                </c:pt>
                <c:pt idx="72">
                  <c:v>0.88</c:v>
                </c:pt>
                <c:pt idx="73">
                  <c:v>0.92</c:v>
                </c:pt>
                <c:pt idx="74">
                  <c:v>0.96</c:v>
                </c:pt>
                <c:pt idx="75">
                  <c:v>1</c:v>
                </c:pt>
                <c:pt idx="76">
                  <c:v>1.04</c:v>
                </c:pt>
                <c:pt idx="77">
                  <c:v>1.08</c:v>
                </c:pt>
                <c:pt idx="78">
                  <c:v>1.12</c:v>
                </c:pt>
                <c:pt idx="79">
                  <c:v>1.16</c:v>
                </c:pt>
                <c:pt idx="80">
                  <c:v>1.2</c:v>
                </c:pt>
                <c:pt idx="81">
                  <c:v>1.24</c:v>
                </c:pt>
                <c:pt idx="82">
                  <c:v>1.28</c:v>
                </c:pt>
                <c:pt idx="83">
                  <c:v>1.32</c:v>
                </c:pt>
                <c:pt idx="84">
                  <c:v>1.36</c:v>
                </c:pt>
                <c:pt idx="85">
                  <c:v>1.4</c:v>
                </c:pt>
                <c:pt idx="86">
                  <c:v>1.44</c:v>
                </c:pt>
                <c:pt idx="87">
                  <c:v>1.48</c:v>
                </c:pt>
                <c:pt idx="88">
                  <c:v>1.52</c:v>
                </c:pt>
                <c:pt idx="89">
                  <c:v>1.56</c:v>
                </c:pt>
                <c:pt idx="90">
                  <c:v>1.6</c:v>
                </c:pt>
                <c:pt idx="91">
                  <c:v>1.64</c:v>
                </c:pt>
                <c:pt idx="92">
                  <c:v>1.68</c:v>
                </c:pt>
                <c:pt idx="93">
                  <c:v>1.72</c:v>
                </c:pt>
                <c:pt idx="94">
                  <c:v>1.76</c:v>
                </c:pt>
                <c:pt idx="95">
                  <c:v>1.8</c:v>
                </c:pt>
                <c:pt idx="96">
                  <c:v>1.84</c:v>
                </c:pt>
                <c:pt idx="97">
                  <c:v>1.88</c:v>
                </c:pt>
                <c:pt idx="98">
                  <c:v>1.92</c:v>
                </c:pt>
                <c:pt idx="99">
                  <c:v>1.96</c:v>
                </c:pt>
                <c:pt idx="100">
                  <c:v>2</c:v>
                </c:pt>
              </c:numCache>
            </c:numRef>
          </c:xVal>
          <c:yVal>
            <c:numRef>
              <c:f>Sheet1!$B$2:$B$102</c:f>
              <c:numCache>
                <c:formatCode>General</c:formatCode>
                <c:ptCount val="101"/>
                <c:pt idx="0">
                  <c:v>4.4</c:v>
                </c:pt>
                <c:pt idx="1">
                  <c:v>4.2416</c:v>
                </c:pt>
                <c:pt idx="2">
                  <c:v>4.0864</c:v>
                </c:pt>
                <c:pt idx="3">
                  <c:v>3.9343999999999997</c:v>
                </c:pt>
                <c:pt idx="4">
                  <c:v>3.7856</c:v>
                </c:pt>
                <c:pt idx="5">
                  <c:v>3.64</c:v>
                </c:pt>
                <c:pt idx="6">
                  <c:v>3.4976</c:v>
                </c:pt>
                <c:pt idx="7">
                  <c:v>3.3583999999999996</c:v>
                </c:pt>
                <c:pt idx="8">
                  <c:v>3.2223999999999995</c:v>
                </c:pt>
                <c:pt idx="9">
                  <c:v>3.0895999999999995</c:v>
                </c:pt>
                <c:pt idx="10">
                  <c:v>2.9600000000000004</c:v>
                </c:pt>
                <c:pt idx="11">
                  <c:v>2.8336</c:v>
                </c:pt>
                <c:pt idx="12">
                  <c:v>2.7104</c:v>
                </c:pt>
                <c:pt idx="13">
                  <c:v>2.5904</c:v>
                </c:pt>
                <c:pt idx="14">
                  <c:v>2.4736</c:v>
                </c:pt>
                <c:pt idx="15">
                  <c:v>2.36</c:v>
                </c:pt>
                <c:pt idx="16">
                  <c:v>2.2496000000000005</c:v>
                </c:pt>
                <c:pt idx="17">
                  <c:v>2.1424000000000003</c:v>
                </c:pt>
                <c:pt idx="18">
                  <c:v>2.0384</c:v>
                </c:pt>
                <c:pt idx="19">
                  <c:v>1.9376000000000002</c:v>
                </c:pt>
                <c:pt idx="20">
                  <c:v>1.8399999999999999</c:v>
                </c:pt>
                <c:pt idx="21">
                  <c:v>1.7456</c:v>
                </c:pt>
                <c:pt idx="22">
                  <c:v>1.6544000000000003</c:v>
                </c:pt>
                <c:pt idx="23">
                  <c:v>1.5664000000000002</c:v>
                </c:pt>
                <c:pt idx="24">
                  <c:v>1.4816000000000003</c:v>
                </c:pt>
                <c:pt idx="25">
                  <c:v>1.4</c:v>
                </c:pt>
                <c:pt idx="26">
                  <c:v>1.3216</c:v>
                </c:pt>
                <c:pt idx="27">
                  <c:v>1.2464</c:v>
                </c:pt>
                <c:pt idx="28">
                  <c:v>1.1743999999999999</c:v>
                </c:pt>
                <c:pt idx="29">
                  <c:v>1.1056</c:v>
                </c:pt>
                <c:pt idx="30">
                  <c:v>1.04</c:v>
                </c:pt>
                <c:pt idx="31">
                  <c:v>0.9776</c:v>
                </c:pt>
                <c:pt idx="32">
                  <c:v>0.9184</c:v>
                </c:pt>
                <c:pt idx="33">
                  <c:v>0.8624</c:v>
                </c:pt>
                <c:pt idx="34">
                  <c:v>0.8096000000000001</c:v>
                </c:pt>
                <c:pt idx="35">
                  <c:v>0.76</c:v>
                </c:pt>
                <c:pt idx="36">
                  <c:v>0.7136</c:v>
                </c:pt>
                <c:pt idx="37">
                  <c:v>0.6704000000000001</c:v>
                </c:pt>
                <c:pt idx="38">
                  <c:v>0.6304000000000001</c:v>
                </c:pt>
                <c:pt idx="39">
                  <c:v>0.5936</c:v>
                </c:pt>
                <c:pt idx="40">
                  <c:v>0.56</c:v>
                </c:pt>
                <c:pt idx="41">
                  <c:v>0.5296000000000001</c:v>
                </c:pt>
                <c:pt idx="42">
                  <c:v>0.5024000000000001</c:v>
                </c:pt>
                <c:pt idx="43">
                  <c:v>0.47840000000000005</c:v>
                </c:pt>
                <c:pt idx="44">
                  <c:v>0.4576</c:v>
                </c:pt>
                <c:pt idx="45">
                  <c:v>0.44000000000000006</c:v>
                </c:pt>
                <c:pt idx="46">
                  <c:v>0.42560000000000003</c:v>
                </c:pt>
                <c:pt idx="47">
                  <c:v>0.41440000000000005</c:v>
                </c:pt>
                <c:pt idx="48">
                  <c:v>0.40640000000000004</c:v>
                </c:pt>
                <c:pt idx="49">
                  <c:v>0.4016</c:v>
                </c:pt>
                <c:pt idx="50">
                  <c:v>0.4</c:v>
                </c:pt>
                <c:pt idx="51">
                  <c:v>0.4016</c:v>
                </c:pt>
                <c:pt idx="52">
                  <c:v>0.40640000000000004</c:v>
                </c:pt>
                <c:pt idx="53">
                  <c:v>0.41440000000000005</c:v>
                </c:pt>
                <c:pt idx="54">
                  <c:v>0.42560000000000003</c:v>
                </c:pt>
                <c:pt idx="55">
                  <c:v>0.44000000000000006</c:v>
                </c:pt>
                <c:pt idx="56">
                  <c:v>0.4576</c:v>
                </c:pt>
                <c:pt idx="57">
                  <c:v>0.47840000000000005</c:v>
                </c:pt>
                <c:pt idx="58">
                  <c:v>0.5024000000000001</c:v>
                </c:pt>
                <c:pt idx="59">
                  <c:v>0.5296000000000001</c:v>
                </c:pt>
                <c:pt idx="60">
                  <c:v>0.56</c:v>
                </c:pt>
                <c:pt idx="61">
                  <c:v>0.5936</c:v>
                </c:pt>
                <c:pt idx="62">
                  <c:v>0.6304000000000001</c:v>
                </c:pt>
                <c:pt idx="63">
                  <c:v>0.6704000000000001</c:v>
                </c:pt>
                <c:pt idx="64">
                  <c:v>0.7136</c:v>
                </c:pt>
                <c:pt idx="65">
                  <c:v>0.76</c:v>
                </c:pt>
                <c:pt idx="66">
                  <c:v>0.8096000000000001</c:v>
                </c:pt>
                <c:pt idx="67">
                  <c:v>0.8624</c:v>
                </c:pt>
                <c:pt idx="68">
                  <c:v>0.9184</c:v>
                </c:pt>
                <c:pt idx="69">
                  <c:v>0.9776</c:v>
                </c:pt>
                <c:pt idx="70">
                  <c:v>1.04</c:v>
                </c:pt>
                <c:pt idx="71">
                  <c:v>1.1056</c:v>
                </c:pt>
                <c:pt idx="72">
                  <c:v>1.1743999999999999</c:v>
                </c:pt>
                <c:pt idx="73">
                  <c:v>1.2464</c:v>
                </c:pt>
                <c:pt idx="74">
                  <c:v>1.3216</c:v>
                </c:pt>
                <c:pt idx="75">
                  <c:v>1.4</c:v>
                </c:pt>
                <c:pt idx="76">
                  <c:v>1.4816000000000003</c:v>
                </c:pt>
                <c:pt idx="77">
                  <c:v>1.5664000000000002</c:v>
                </c:pt>
                <c:pt idx="78">
                  <c:v>1.6544000000000003</c:v>
                </c:pt>
                <c:pt idx="79">
                  <c:v>1.7456</c:v>
                </c:pt>
                <c:pt idx="80">
                  <c:v>1.8399999999999999</c:v>
                </c:pt>
                <c:pt idx="81">
                  <c:v>1.9376000000000002</c:v>
                </c:pt>
                <c:pt idx="82">
                  <c:v>2.0384</c:v>
                </c:pt>
                <c:pt idx="83">
                  <c:v>2.1424000000000003</c:v>
                </c:pt>
                <c:pt idx="84">
                  <c:v>2.2496000000000005</c:v>
                </c:pt>
                <c:pt idx="85">
                  <c:v>2.36</c:v>
                </c:pt>
                <c:pt idx="86">
                  <c:v>2.4736</c:v>
                </c:pt>
                <c:pt idx="87">
                  <c:v>2.5904</c:v>
                </c:pt>
                <c:pt idx="88">
                  <c:v>2.7104</c:v>
                </c:pt>
                <c:pt idx="89">
                  <c:v>2.8336</c:v>
                </c:pt>
                <c:pt idx="90">
                  <c:v>2.9600000000000004</c:v>
                </c:pt>
                <c:pt idx="91">
                  <c:v>3.0895999999999995</c:v>
                </c:pt>
                <c:pt idx="92">
                  <c:v>3.2223999999999995</c:v>
                </c:pt>
                <c:pt idx="93">
                  <c:v>3.3583999999999996</c:v>
                </c:pt>
                <c:pt idx="94">
                  <c:v>3.4976</c:v>
                </c:pt>
                <c:pt idx="95">
                  <c:v>3.64</c:v>
                </c:pt>
                <c:pt idx="96">
                  <c:v>3.7856</c:v>
                </c:pt>
                <c:pt idx="97">
                  <c:v>3.9343999999999997</c:v>
                </c:pt>
                <c:pt idx="98">
                  <c:v>4.0864</c:v>
                </c:pt>
                <c:pt idx="99">
                  <c:v>4.2416</c:v>
                </c:pt>
                <c:pt idx="100">
                  <c:v>4.4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8E6DF"/>
              </a:solidFill>
              <a:prstDash val="solid"/>
              <a:round/>
            </a:ln>
          </c:spPr>
        </c:majorGridlines>
        <c:title>
          <c:tx>
            <c:rich>
              <a:bodyPr/>
              <a:lstStyle/>
              <a:p>
                <a:pPr>
                  <a:defRPr sz="900" b="0" i="0" u="none" strike="noStrike">
                    <a:solidFill>
                      <a:srgbClr val="5A5A5A"/>
                    </a:solidFill>
                    <a:latin typeface="Arial"/>
                  </a:defRPr>
                </a:pPr>
                <a:r>
                  <a:rPr sz="900" b="0" i="0" u="none" strike="noStrike">
                    <a:solidFill>
                      <a:srgbClr val="5A5A5A"/>
                    </a:solidFill>
                    <a:latin typeface="Arial"/>
                  </a:rPr>
                  <a:t>Weight value</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5A5A5A"/>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8E6DF"/>
              </a:solidFill>
              <a:prstDash val="solid"/>
              <a:round/>
            </a:ln>
          </c:spPr>
        </c:majorGridlines>
        <c:title>
          <c:tx>
            <c:rich>
              <a:bodyPr/>
              <a:lstStyle/>
              <a:p>
                <a:pPr>
                  <a:defRPr sz="900" b="0" i="0" u="none" strike="noStrike">
                    <a:solidFill>
                      <a:srgbClr val="5A5A5A"/>
                    </a:solidFill>
                    <a:latin typeface="Arial"/>
                  </a:defRPr>
                </a:pPr>
                <a:r>
                  <a:rPr sz="900" b="0" i="0" u="none" strike="noStrike">
                    <a:solidFill>
                      <a:srgbClr val="5A5A5A"/>
                    </a:solidFill>
                    <a:latin typeface="Arial"/>
                  </a:rPr>
                  <a:t>Loss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5A5A5A"/>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7A1F2B"/>
          </a:solidFill>
          <a:ln/>
        </p:spPr>
      </p:sp>
      <p:sp>
        <p:nvSpPr>
          <p:cNvPr id="3" name="Text 1"/>
          <p:cNvSpPr/>
          <p:nvPr/>
        </p:nvSpPr>
        <p:spPr>
          <a:xfrm>
            <a:off x="1097280" y="1874520"/>
            <a:ext cx="10058400" cy="365760"/>
          </a:xfrm>
          <a:prstGeom prst="rect">
            <a:avLst/>
          </a:prstGeom>
          <a:noFill/>
          <a:ln/>
        </p:spPr>
        <p:txBody>
          <a:bodyPr wrap="square" rtlCol="0" anchor="ctr"/>
          <a:lstStyle/>
          <a:p>
            <a:pPr indent="0" marL="0">
              <a:buNone/>
            </a:pPr>
            <a:r>
              <a:rPr lang="en-US" sz="1200" b="1" spc="600" kern="0" dirty="0">
                <a:solidFill>
                  <a:srgbClr val="7A1F2B"/>
                </a:solidFill>
                <a:latin typeface="Calibri" pitchFamily="34" charset="0"/>
                <a:ea typeface="Calibri" pitchFamily="34" charset="-122"/>
                <a:cs typeface="Calibri" pitchFamily="34" charset="-120"/>
              </a:rPr>
              <a:t>PORTFOLIO ARTIFACT 02</a:t>
            </a:r>
            <a:endParaRPr lang="en-US" sz="1200" dirty="0"/>
          </a:p>
        </p:txBody>
      </p:sp>
      <p:sp>
        <p:nvSpPr>
          <p:cNvPr id="4" name="Text 2"/>
          <p:cNvSpPr/>
          <p:nvPr/>
        </p:nvSpPr>
        <p:spPr>
          <a:xfrm>
            <a:off x="1097280" y="2331720"/>
            <a:ext cx="10058400" cy="1097280"/>
          </a:xfrm>
          <a:prstGeom prst="rect">
            <a:avLst/>
          </a:prstGeom>
          <a:noFill/>
          <a:ln/>
        </p:spPr>
        <p:txBody>
          <a:bodyPr wrap="square" rtlCol="0" anchor="ctr"/>
          <a:lstStyle/>
          <a:p>
            <a:pPr indent="0" marL="0">
              <a:buNone/>
            </a:pPr>
            <a:r>
              <a:rPr lang="en-US" sz="6000" b="1" dirty="0">
                <a:solidFill>
                  <a:srgbClr val="1A1A1A"/>
                </a:solidFill>
                <a:latin typeface="Cambria" pitchFamily="34" charset="0"/>
                <a:ea typeface="Cambria" pitchFamily="34" charset="-122"/>
                <a:cs typeface="Cambria" pitchFamily="34" charset="-120"/>
              </a:rPr>
              <a:t>Neural Network</a:t>
            </a:r>
            <a:endParaRPr lang="en-US" sz="6000" dirty="0"/>
          </a:p>
        </p:txBody>
      </p:sp>
      <p:sp>
        <p:nvSpPr>
          <p:cNvPr id="5" name="Text 3"/>
          <p:cNvSpPr/>
          <p:nvPr/>
        </p:nvSpPr>
        <p:spPr>
          <a:xfrm>
            <a:off x="1097280" y="3246120"/>
            <a:ext cx="10058400" cy="822960"/>
          </a:xfrm>
          <a:prstGeom prst="rect">
            <a:avLst/>
          </a:prstGeom>
          <a:noFill/>
          <a:ln/>
        </p:spPr>
        <p:txBody>
          <a:bodyPr wrap="square" rtlCol="0" anchor="ctr"/>
          <a:lstStyle/>
          <a:p>
            <a:pPr indent="0" marL="0">
              <a:buNone/>
            </a:pPr>
            <a:r>
              <a:rPr lang="en-US" sz="4400" i="1" dirty="0">
                <a:solidFill>
                  <a:srgbClr val="1A1A1A"/>
                </a:solidFill>
                <a:latin typeface="Cambria" pitchFamily="34" charset="0"/>
                <a:ea typeface="Cambria" pitchFamily="34" charset="-122"/>
                <a:cs typeface="Cambria" pitchFamily="34" charset="-120"/>
              </a:rPr>
              <a:t>Components &amp; Architecture</a:t>
            </a:r>
            <a:endParaRPr lang="en-US" sz="4400" dirty="0"/>
          </a:p>
        </p:txBody>
      </p:sp>
      <p:sp>
        <p:nvSpPr>
          <p:cNvPr id="6" name="Shape 4"/>
          <p:cNvSpPr/>
          <p:nvPr/>
        </p:nvSpPr>
        <p:spPr>
          <a:xfrm>
            <a:off x="1097280" y="4297680"/>
            <a:ext cx="3200400" cy="0"/>
          </a:xfrm>
          <a:prstGeom prst="line">
            <a:avLst/>
          </a:prstGeom>
          <a:noFill/>
          <a:ln w="19050">
            <a:solidFill>
              <a:srgbClr val="7A1F2B"/>
            </a:solidFill>
            <a:prstDash val="solid"/>
          </a:ln>
        </p:spPr>
      </p:sp>
      <p:sp>
        <p:nvSpPr>
          <p:cNvPr id="7" name="Text 5"/>
          <p:cNvSpPr/>
          <p:nvPr/>
        </p:nvSpPr>
        <p:spPr>
          <a:xfrm>
            <a:off x="1097280" y="4434840"/>
            <a:ext cx="8686800" cy="914400"/>
          </a:xfrm>
          <a:prstGeom prst="rect">
            <a:avLst/>
          </a:prstGeom>
          <a:noFill/>
          <a:ln/>
        </p:spPr>
        <p:txBody>
          <a:bodyPr wrap="square" rtlCol="0" anchor="ctr"/>
          <a:lstStyle/>
          <a:p>
            <a:pPr indent="0" marL="0">
              <a:spcAft>
                <a:spcPts val="400"/>
              </a:spcAft>
              <a:buNone/>
            </a:pPr>
            <a:r>
              <a:rPr lang="en-US" sz="1500" i="1" dirty="0">
                <a:solidFill>
                  <a:srgbClr val="5A5A5A"/>
                </a:solidFill>
                <a:latin typeface="Calibri" pitchFamily="34" charset="0"/>
                <a:ea typeface="Calibri" pitchFamily="34" charset="-122"/>
                <a:cs typeface="Calibri" pitchFamily="34" charset="-120"/>
              </a:rPr>
              <a:t>A visual study of how data flows through layers, how neurons compute,</a:t>
            </a:r>
            <a:endParaRPr lang="en-US" sz="1500" dirty="0"/>
          </a:p>
          <a:p>
            <a:pPr indent="0" marL="0">
              <a:spcAft>
                <a:spcPts val="400"/>
              </a:spcAft>
              <a:buNone/>
            </a:pPr>
            <a:r>
              <a:rPr lang="en-US" sz="1500" i="1" dirty="0">
                <a:solidFill>
                  <a:srgbClr val="5A5A5A"/>
                </a:solidFill>
                <a:latin typeface="Calibri" pitchFamily="34" charset="0"/>
                <a:ea typeface="Calibri" pitchFamily="34" charset="-122"/>
                <a:cs typeface="Calibri" pitchFamily="34" charset="-120"/>
              </a:rPr>
              <a:t>and how networks learn — built as a working reference for both academic</a:t>
            </a:r>
            <a:endParaRPr lang="en-US" sz="1500" dirty="0"/>
          </a:p>
          <a:p>
            <a:pPr indent="0" marL="0">
              <a:spcAft>
                <a:spcPts val="400"/>
              </a:spcAft>
              <a:buNone/>
            </a:pPr>
            <a:r>
              <a:rPr lang="en-US" sz="1500" i="1" dirty="0">
                <a:solidFill>
                  <a:srgbClr val="5A5A5A"/>
                </a:solidFill>
                <a:latin typeface="Calibri" pitchFamily="34" charset="0"/>
                <a:ea typeface="Calibri" pitchFamily="34" charset="-122"/>
                <a:cs typeface="Calibri" pitchFamily="34" charset="-120"/>
              </a:rPr>
              <a:t>study and applied cybersecurity research.</a:t>
            </a:r>
            <a:endParaRPr lang="en-US" sz="1500" dirty="0"/>
          </a:p>
        </p:txBody>
      </p:sp>
      <p:sp>
        <p:nvSpPr>
          <p:cNvPr id="8" name="Text 6"/>
          <p:cNvSpPr/>
          <p:nvPr/>
        </p:nvSpPr>
        <p:spPr>
          <a:xfrm>
            <a:off x="1097280" y="5852160"/>
            <a:ext cx="100584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Rishitha Reddy</a:t>
            </a:r>
            <a:pPr indent="0" marL="0">
              <a:buNone/>
            </a:pPr>
            <a:r>
              <a:rPr lang="en-US" sz="1200" dirty="0">
                <a:solidFill>
                  <a:srgbClr val="5A5A5A"/>
                </a:solidFill>
                <a:latin typeface="Calibri" pitchFamily="34" charset="0"/>
                <a:ea typeface="Calibri" pitchFamily="34" charset="-122"/>
                <a:cs typeface="Calibri" pitchFamily="34" charset="-120"/>
              </a:rPr>
              <a:t>   |   AIML-501  ·  Model Development</a:t>
            </a:r>
            <a:endParaRPr lang="en-US" sz="1400" dirty="0"/>
          </a:p>
        </p:txBody>
      </p:sp>
      <p:sp>
        <p:nvSpPr>
          <p:cNvPr id="9" name="Text 7"/>
          <p:cNvSpPr/>
          <p:nvPr/>
        </p:nvSpPr>
        <p:spPr>
          <a:xfrm>
            <a:off x="1097280" y="6172200"/>
            <a:ext cx="10058400" cy="274320"/>
          </a:xfrm>
          <a:prstGeom prst="rect">
            <a:avLst/>
          </a:prstGeom>
          <a:noFill/>
          <a:ln/>
        </p:spPr>
        <p:txBody>
          <a:bodyPr wrap="square" rtlCol="0" anchor="ctr"/>
          <a:lstStyle/>
          <a:p>
            <a:pPr indent="0" marL="0">
              <a:buNone/>
            </a:pPr>
            <a:r>
              <a:rPr lang="en-US" sz="1000" spc="200" kern="0" dirty="0">
                <a:solidFill>
                  <a:srgbClr val="5A5A5A"/>
                </a:solidFill>
                <a:latin typeface="Calibri" pitchFamily="34" charset="0"/>
                <a:ea typeface="Calibri" pitchFamily="34" charset="-122"/>
                <a:cs typeface="Calibri" pitchFamily="34" charset="-120"/>
              </a:rPr>
              <a:t>Indiana Wesleyan University   ·   Workshop Two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THE ARCHITECTURE</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868680"/>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A Neural Network at a Glance</a:t>
            </a:r>
            <a:endParaRPr lang="en-US" sz="3200" dirty="0"/>
          </a:p>
        </p:txBody>
      </p:sp>
      <p:sp>
        <p:nvSpPr>
          <p:cNvPr id="6" name="Text 4"/>
          <p:cNvSpPr/>
          <p:nvPr/>
        </p:nvSpPr>
        <p:spPr>
          <a:xfrm>
            <a:off x="548640" y="1417320"/>
            <a:ext cx="10058400" cy="457200"/>
          </a:xfrm>
          <a:prstGeom prst="rect">
            <a:avLst/>
          </a:prstGeom>
          <a:noFill/>
          <a:ln/>
        </p:spPr>
        <p:txBody>
          <a:bodyPr wrap="square" rtlCol="0" anchor="ctr"/>
          <a:lstStyle/>
          <a:p>
            <a:pPr indent="0" marL="0">
              <a:buNone/>
            </a:pPr>
            <a:r>
              <a:rPr lang="en-US" sz="1300" i="1" dirty="0">
                <a:solidFill>
                  <a:srgbClr val="5A5A5A"/>
                </a:solidFill>
                <a:latin typeface="Calibri" pitchFamily="34" charset="0"/>
                <a:ea typeface="Calibri" pitchFamily="34" charset="-122"/>
                <a:cs typeface="Calibri" pitchFamily="34" charset="-120"/>
              </a:rPr>
              <a:t>Data flows from input through hidden layers to output, transformed at each step by weights, biases, and activation functions.</a:t>
            </a:r>
            <a:endParaRPr lang="en-US" sz="1300" dirty="0"/>
          </a:p>
        </p:txBody>
      </p:sp>
      <p:sp>
        <p:nvSpPr>
          <p:cNvPr id="7" name="Shape 5"/>
          <p:cNvSpPr/>
          <p:nvPr/>
        </p:nvSpPr>
        <p:spPr>
          <a:xfrm>
            <a:off x="2121408" y="2468880"/>
            <a:ext cx="2340864" cy="0"/>
          </a:xfrm>
          <a:prstGeom prst="line">
            <a:avLst/>
          </a:prstGeom>
          <a:noFill/>
          <a:ln w="6350">
            <a:solidFill>
              <a:srgbClr val="D4D4CF">
                <a:alpha val="70000"/>
              </a:srgbClr>
            </a:solidFill>
            <a:prstDash val="solid"/>
          </a:ln>
        </p:spPr>
      </p:sp>
      <p:sp>
        <p:nvSpPr>
          <p:cNvPr id="8" name="Shape 6"/>
          <p:cNvSpPr/>
          <p:nvPr/>
        </p:nvSpPr>
        <p:spPr>
          <a:xfrm>
            <a:off x="2121408" y="2468880"/>
            <a:ext cx="2340864" cy="975360"/>
          </a:xfrm>
          <a:prstGeom prst="line">
            <a:avLst/>
          </a:prstGeom>
          <a:noFill/>
          <a:ln w="6350">
            <a:solidFill>
              <a:srgbClr val="D4D4CF">
                <a:alpha val="70000"/>
              </a:srgbClr>
            </a:solidFill>
            <a:prstDash val="solid"/>
          </a:ln>
        </p:spPr>
      </p:sp>
      <p:sp>
        <p:nvSpPr>
          <p:cNvPr id="9" name="Shape 7"/>
          <p:cNvSpPr/>
          <p:nvPr/>
        </p:nvSpPr>
        <p:spPr>
          <a:xfrm>
            <a:off x="2121408" y="2468880"/>
            <a:ext cx="2340864" cy="1950720"/>
          </a:xfrm>
          <a:prstGeom prst="line">
            <a:avLst/>
          </a:prstGeom>
          <a:noFill/>
          <a:ln w="6350">
            <a:solidFill>
              <a:srgbClr val="D4D4CF">
                <a:alpha val="70000"/>
              </a:srgbClr>
            </a:solidFill>
            <a:prstDash val="solid"/>
          </a:ln>
        </p:spPr>
      </p:sp>
      <p:sp>
        <p:nvSpPr>
          <p:cNvPr id="10" name="Shape 8"/>
          <p:cNvSpPr/>
          <p:nvPr/>
        </p:nvSpPr>
        <p:spPr>
          <a:xfrm>
            <a:off x="2121408" y="2468880"/>
            <a:ext cx="2340864" cy="2926080"/>
          </a:xfrm>
          <a:prstGeom prst="line">
            <a:avLst/>
          </a:prstGeom>
          <a:noFill/>
          <a:ln w="6350">
            <a:solidFill>
              <a:srgbClr val="D4D4CF">
                <a:alpha val="70000"/>
              </a:srgbClr>
            </a:solidFill>
            <a:prstDash val="solid"/>
          </a:ln>
        </p:spPr>
      </p:sp>
      <p:sp>
        <p:nvSpPr>
          <p:cNvPr id="11" name="Shape 9"/>
          <p:cNvSpPr/>
          <p:nvPr/>
        </p:nvSpPr>
        <p:spPr>
          <a:xfrm>
            <a:off x="2121408" y="3931920"/>
            <a:ext cx="2340864" cy="-1463040"/>
          </a:xfrm>
          <a:prstGeom prst="line">
            <a:avLst/>
          </a:prstGeom>
          <a:noFill/>
          <a:ln w="6350">
            <a:solidFill>
              <a:srgbClr val="D4D4CF">
                <a:alpha val="70000"/>
              </a:srgbClr>
            </a:solidFill>
            <a:prstDash val="solid"/>
          </a:ln>
        </p:spPr>
      </p:sp>
      <p:sp>
        <p:nvSpPr>
          <p:cNvPr id="12" name="Shape 10"/>
          <p:cNvSpPr/>
          <p:nvPr/>
        </p:nvSpPr>
        <p:spPr>
          <a:xfrm>
            <a:off x="2121408" y="3931920"/>
            <a:ext cx="2340864" cy="-487680"/>
          </a:xfrm>
          <a:prstGeom prst="line">
            <a:avLst/>
          </a:prstGeom>
          <a:noFill/>
          <a:ln w="6350">
            <a:solidFill>
              <a:srgbClr val="D4D4CF">
                <a:alpha val="70000"/>
              </a:srgbClr>
            </a:solidFill>
            <a:prstDash val="solid"/>
          </a:ln>
        </p:spPr>
      </p:sp>
      <p:sp>
        <p:nvSpPr>
          <p:cNvPr id="13" name="Shape 11"/>
          <p:cNvSpPr/>
          <p:nvPr/>
        </p:nvSpPr>
        <p:spPr>
          <a:xfrm>
            <a:off x="2121408" y="3931920"/>
            <a:ext cx="2340864" cy="487680"/>
          </a:xfrm>
          <a:prstGeom prst="line">
            <a:avLst/>
          </a:prstGeom>
          <a:noFill/>
          <a:ln w="6350">
            <a:solidFill>
              <a:srgbClr val="D4D4CF">
                <a:alpha val="70000"/>
              </a:srgbClr>
            </a:solidFill>
            <a:prstDash val="solid"/>
          </a:ln>
        </p:spPr>
      </p:sp>
      <p:sp>
        <p:nvSpPr>
          <p:cNvPr id="14" name="Shape 12"/>
          <p:cNvSpPr/>
          <p:nvPr/>
        </p:nvSpPr>
        <p:spPr>
          <a:xfrm>
            <a:off x="2121408" y="3931920"/>
            <a:ext cx="2340864" cy="1463040"/>
          </a:xfrm>
          <a:prstGeom prst="line">
            <a:avLst/>
          </a:prstGeom>
          <a:noFill/>
          <a:ln w="6350">
            <a:solidFill>
              <a:srgbClr val="D4D4CF">
                <a:alpha val="70000"/>
              </a:srgbClr>
            </a:solidFill>
            <a:prstDash val="solid"/>
          </a:ln>
        </p:spPr>
      </p:sp>
      <p:sp>
        <p:nvSpPr>
          <p:cNvPr id="15" name="Shape 13"/>
          <p:cNvSpPr/>
          <p:nvPr/>
        </p:nvSpPr>
        <p:spPr>
          <a:xfrm>
            <a:off x="2121408" y="5394960"/>
            <a:ext cx="2340864" cy="-2926080"/>
          </a:xfrm>
          <a:prstGeom prst="line">
            <a:avLst/>
          </a:prstGeom>
          <a:noFill/>
          <a:ln w="6350">
            <a:solidFill>
              <a:srgbClr val="D4D4CF">
                <a:alpha val="70000"/>
              </a:srgbClr>
            </a:solidFill>
            <a:prstDash val="solid"/>
          </a:ln>
        </p:spPr>
      </p:sp>
      <p:sp>
        <p:nvSpPr>
          <p:cNvPr id="16" name="Shape 14"/>
          <p:cNvSpPr/>
          <p:nvPr/>
        </p:nvSpPr>
        <p:spPr>
          <a:xfrm>
            <a:off x="2121408" y="5394960"/>
            <a:ext cx="2340864" cy="-1950720"/>
          </a:xfrm>
          <a:prstGeom prst="line">
            <a:avLst/>
          </a:prstGeom>
          <a:noFill/>
          <a:ln w="6350">
            <a:solidFill>
              <a:srgbClr val="D4D4CF">
                <a:alpha val="70000"/>
              </a:srgbClr>
            </a:solidFill>
            <a:prstDash val="solid"/>
          </a:ln>
        </p:spPr>
      </p:sp>
      <p:sp>
        <p:nvSpPr>
          <p:cNvPr id="17" name="Shape 15"/>
          <p:cNvSpPr/>
          <p:nvPr/>
        </p:nvSpPr>
        <p:spPr>
          <a:xfrm>
            <a:off x="2121408" y="5394960"/>
            <a:ext cx="2340864" cy="-975360"/>
          </a:xfrm>
          <a:prstGeom prst="line">
            <a:avLst/>
          </a:prstGeom>
          <a:noFill/>
          <a:ln w="6350">
            <a:solidFill>
              <a:srgbClr val="D4D4CF">
                <a:alpha val="70000"/>
              </a:srgbClr>
            </a:solidFill>
            <a:prstDash val="solid"/>
          </a:ln>
        </p:spPr>
      </p:sp>
      <p:sp>
        <p:nvSpPr>
          <p:cNvPr id="18" name="Shape 16"/>
          <p:cNvSpPr/>
          <p:nvPr/>
        </p:nvSpPr>
        <p:spPr>
          <a:xfrm>
            <a:off x="2121408" y="5394960"/>
            <a:ext cx="2340864" cy="0"/>
          </a:xfrm>
          <a:prstGeom prst="line">
            <a:avLst/>
          </a:prstGeom>
          <a:noFill/>
          <a:ln w="6350">
            <a:solidFill>
              <a:srgbClr val="D4D4CF">
                <a:alpha val="70000"/>
              </a:srgbClr>
            </a:solidFill>
            <a:prstDash val="solid"/>
          </a:ln>
        </p:spPr>
      </p:sp>
      <p:sp>
        <p:nvSpPr>
          <p:cNvPr id="19" name="Shape 17"/>
          <p:cNvSpPr/>
          <p:nvPr/>
        </p:nvSpPr>
        <p:spPr>
          <a:xfrm>
            <a:off x="5047488" y="2468880"/>
            <a:ext cx="2340864" cy="0"/>
          </a:xfrm>
          <a:prstGeom prst="line">
            <a:avLst/>
          </a:prstGeom>
          <a:noFill/>
          <a:ln w="6350">
            <a:solidFill>
              <a:srgbClr val="D4D4CF">
                <a:alpha val="70000"/>
              </a:srgbClr>
            </a:solidFill>
            <a:prstDash val="solid"/>
          </a:ln>
        </p:spPr>
      </p:sp>
      <p:sp>
        <p:nvSpPr>
          <p:cNvPr id="20" name="Shape 18"/>
          <p:cNvSpPr/>
          <p:nvPr/>
        </p:nvSpPr>
        <p:spPr>
          <a:xfrm>
            <a:off x="5047488" y="2468880"/>
            <a:ext cx="2340864" cy="975360"/>
          </a:xfrm>
          <a:prstGeom prst="line">
            <a:avLst/>
          </a:prstGeom>
          <a:noFill/>
          <a:ln w="6350">
            <a:solidFill>
              <a:srgbClr val="D4D4CF">
                <a:alpha val="70000"/>
              </a:srgbClr>
            </a:solidFill>
            <a:prstDash val="solid"/>
          </a:ln>
        </p:spPr>
      </p:sp>
      <p:sp>
        <p:nvSpPr>
          <p:cNvPr id="21" name="Shape 19"/>
          <p:cNvSpPr/>
          <p:nvPr/>
        </p:nvSpPr>
        <p:spPr>
          <a:xfrm>
            <a:off x="5047488" y="2468880"/>
            <a:ext cx="2340864" cy="1950720"/>
          </a:xfrm>
          <a:prstGeom prst="line">
            <a:avLst/>
          </a:prstGeom>
          <a:noFill/>
          <a:ln w="6350">
            <a:solidFill>
              <a:srgbClr val="D4D4CF">
                <a:alpha val="70000"/>
              </a:srgbClr>
            </a:solidFill>
            <a:prstDash val="solid"/>
          </a:ln>
        </p:spPr>
      </p:sp>
      <p:sp>
        <p:nvSpPr>
          <p:cNvPr id="22" name="Shape 20"/>
          <p:cNvSpPr/>
          <p:nvPr/>
        </p:nvSpPr>
        <p:spPr>
          <a:xfrm>
            <a:off x="5047488" y="2468880"/>
            <a:ext cx="2340864" cy="2926080"/>
          </a:xfrm>
          <a:prstGeom prst="line">
            <a:avLst/>
          </a:prstGeom>
          <a:noFill/>
          <a:ln w="6350">
            <a:solidFill>
              <a:srgbClr val="D4D4CF">
                <a:alpha val="70000"/>
              </a:srgbClr>
            </a:solidFill>
            <a:prstDash val="solid"/>
          </a:ln>
        </p:spPr>
      </p:sp>
      <p:sp>
        <p:nvSpPr>
          <p:cNvPr id="23" name="Shape 21"/>
          <p:cNvSpPr/>
          <p:nvPr/>
        </p:nvSpPr>
        <p:spPr>
          <a:xfrm>
            <a:off x="5047488" y="3444240"/>
            <a:ext cx="2340864" cy="-975360"/>
          </a:xfrm>
          <a:prstGeom prst="line">
            <a:avLst/>
          </a:prstGeom>
          <a:noFill/>
          <a:ln w="6350">
            <a:solidFill>
              <a:srgbClr val="D4D4CF">
                <a:alpha val="70000"/>
              </a:srgbClr>
            </a:solidFill>
            <a:prstDash val="solid"/>
          </a:ln>
        </p:spPr>
      </p:sp>
      <p:sp>
        <p:nvSpPr>
          <p:cNvPr id="24" name="Shape 22"/>
          <p:cNvSpPr/>
          <p:nvPr/>
        </p:nvSpPr>
        <p:spPr>
          <a:xfrm>
            <a:off x="5047488" y="3444240"/>
            <a:ext cx="2340864" cy="0"/>
          </a:xfrm>
          <a:prstGeom prst="line">
            <a:avLst/>
          </a:prstGeom>
          <a:noFill/>
          <a:ln w="6350">
            <a:solidFill>
              <a:srgbClr val="D4D4CF">
                <a:alpha val="70000"/>
              </a:srgbClr>
            </a:solidFill>
            <a:prstDash val="solid"/>
          </a:ln>
        </p:spPr>
      </p:sp>
      <p:sp>
        <p:nvSpPr>
          <p:cNvPr id="25" name="Shape 23"/>
          <p:cNvSpPr/>
          <p:nvPr/>
        </p:nvSpPr>
        <p:spPr>
          <a:xfrm>
            <a:off x="5047488" y="3444240"/>
            <a:ext cx="2340864" cy="975360"/>
          </a:xfrm>
          <a:prstGeom prst="line">
            <a:avLst/>
          </a:prstGeom>
          <a:noFill/>
          <a:ln w="6350">
            <a:solidFill>
              <a:srgbClr val="D4D4CF">
                <a:alpha val="70000"/>
              </a:srgbClr>
            </a:solidFill>
            <a:prstDash val="solid"/>
          </a:ln>
        </p:spPr>
      </p:sp>
      <p:sp>
        <p:nvSpPr>
          <p:cNvPr id="26" name="Shape 24"/>
          <p:cNvSpPr/>
          <p:nvPr/>
        </p:nvSpPr>
        <p:spPr>
          <a:xfrm>
            <a:off x="5047488" y="3444240"/>
            <a:ext cx="2340864" cy="1950720"/>
          </a:xfrm>
          <a:prstGeom prst="line">
            <a:avLst/>
          </a:prstGeom>
          <a:noFill/>
          <a:ln w="6350">
            <a:solidFill>
              <a:srgbClr val="D4D4CF">
                <a:alpha val="70000"/>
              </a:srgbClr>
            </a:solidFill>
            <a:prstDash val="solid"/>
          </a:ln>
        </p:spPr>
      </p:sp>
      <p:sp>
        <p:nvSpPr>
          <p:cNvPr id="27" name="Shape 25"/>
          <p:cNvSpPr/>
          <p:nvPr/>
        </p:nvSpPr>
        <p:spPr>
          <a:xfrm>
            <a:off x="5047488" y="4419600"/>
            <a:ext cx="2340864" cy="-1950720"/>
          </a:xfrm>
          <a:prstGeom prst="line">
            <a:avLst/>
          </a:prstGeom>
          <a:noFill/>
          <a:ln w="6350">
            <a:solidFill>
              <a:srgbClr val="D4D4CF">
                <a:alpha val="70000"/>
              </a:srgbClr>
            </a:solidFill>
            <a:prstDash val="solid"/>
          </a:ln>
        </p:spPr>
      </p:sp>
      <p:sp>
        <p:nvSpPr>
          <p:cNvPr id="28" name="Shape 26"/>
          <p:cNvSpPr/>
          <p:nvPr/>
        </p:nvSpPr>
        <p:spPr>
          <a:xfrm>
            <a:off x="5047488" y="4419600"/>
            <a:ext cx="2340864" cy="-975360"/>
          </a:xfrm>
          <a:prstGeom prst="line">
            <a:avLst/>
          </a:prstGeom>
          <a:noFill/>
          <a:ln w="6350">
            <a:solidFill>
              <a:srgbClr val="D4D4CF">
                <a:alpha val="70000"/>
              </a:srgbClr>
            </a:solidFill>
            <a:prstDash val="solid"/>
          </a:ln>
        </p:spPr>
      </p:sp>
      <p:sp>
        <p:nvSpPr>
          <p:cNvPr id="29" name="Shape 27"/>
          <p:cNvSpPr/>
          <p:nvPr/>
        </p:nvSpPr>
        <p:spPr>
          <a:xfrm>
            <a:off x="5047488" y="4419600"/>
            <a:ext cx="2340864" cy="0"/>
          </a:xfrm>
          <a:prstGeom prst="line">
            <a:avLst/>
          </a:prstGeom>
          <a:noFill/>
          <a:ln w="6350">
            <a:solidFill>
              <a:srgbClr val="D4D4CF">
                <a:alpha val="70000"/>
              </a:srgbClr>
            </a:solidFill>
            <a:prstDash val="solid"/>
          </a:ln>
        </p:spPr>
      </p:sp>
      <p:sp>
        <p:nvSpPr>
          <p:cNvPr id="30" name="Shape 28"/>
          <p:cNvSpPr/>
          <p:nvPr/>
        </p:nvSpPr>
        <p:spPr>
          <a:xfrm>
            <a:off x="5047488" y="4419600"/>
            <a:ext cx="2340864" cy="975360"/>
          </a:xfrm>
          <a:prstGeom prst="line">
            <a:avLst/>
          </a:prstGeom>
          <a:noFill/>
          <a:ln w="6350">
            <a:solidFill>
              <a:srgbClr val="D4D4CF">
                <a:alpha val="70000"/>
              </a:srgbClr>
            </a:solidFill>
            <a:prstDash val="solid"/>
          </a:ln>
        </p:spPr>
      </p:sp>
      <p:sp>
        <p:nvSpPr>
          <p:cNvPr id="31" name="Shape 29"/>
          <p:cNvSpPr/>
          <p:nvPr/>
        </p:nvSpPr>
        <p:spPr>
          <a:xfrm>
            <a:off x="5047488" y="5394960"/>
            <a:ext cx="2340864" cy="-2926080"/>
          </a:xfrm>
          <a:prstGeom prst="line">
            <a:avLst/>
          </a:prstGeom>
          <a:noFill/>
          <a:ln w="6350">
            <a:solidFill>
              <a:srgbClr val="D4D4CF">
                <a:alpha val="70000"/>
              </a:srgbClr>
            </a:solidFill>
            <a:prstDash val="solid"/>
          </a:ln>
        </p:spPr>
      </p:sp>
      <p:sp>
        <p:nvSpPr>
          <p:cNvPr id="32" name="Shape 30"/>
          <p:cNvSpPr/>
          <p:nvPr/>
        </p:nvSpPr>
        <p:spPr>
          <a:xfrm>
            <a:off x="5047488" y="5394960"/>
            <a:ext cx="2340864" cy="-1950720"/>
          </a:xfrm>
          <a:prstGeom prst="line">
            <a:avLst/>
          </a:prstGeom>
          <a:noFill/>
          <a:ln w="6350">
            <a:solidFill>
              <a:srgbClr val="D4D4CF">
                <a:alpha val="70000"/>
              </a:srgbClr>
            </a:solidFill>
            <a:prstDash val="solid"/>
          </a:ln>
        </p:spPr>
      </p:sp>
      <p:sp>
        <p:nvSpPr>
          <p:cNvPr id="33" name="Shape 31"/>
          <p:cNvSpPr/>
          <p:nvPr/>
        </p:nvSpPr>
        <p:spPr>
          <a:xfrm>
            <a:off x="5047488" y="5394960"/>
            <a:ext cx="2340864" cy="-975360"/>
          </a:xfrm>
          <a:prstGeom prst="line">
            <a:avLst/>
          </a:prstGeom>
          <a:noFill/>
          <a:ln w="6350">
            <a:solidFill>
              <a:srgbClr val="D4D4CF">
                <a:alpha val="70000"/>
              </a:srgbClr>
            </a:solidFill>
            <a:prstDash val="solid"/>
          </a:ln>
        </p:spPr>
      </p:sp>
      <p:sp>
        <p:nvSpPr>
          <p:cNvPr id="34" name="Shape 32"/>
          <p:cNvSpPr/>
          <p:nvPr/>
        </p:nvSpPr>
        <p:spPr>
          <a:xfrm>
            <a:off x="5047488" y="5394960"/>
            <a:ext cx="2340864" cy="0"/>
          </a:xfrm>
          <a:prstGeom prst="line">
            <a:avLst/>
          </a:prstGeom>
          <a:noFill/>
          <a:ln w="6350">
            <a:solidFill>
              <a:srgbClr val="D4D4CF">
                <a:alpha val="70000"/>
              </a:srgbClr>
            </a:solidFill>
            <a:prstDash val="solid"/>
          </a:ln>
        </p:spPr>
      </p:sp>
      <p:sp>
        <p:nvSpPr>
          <p:cNvPr id="35" name="Shape 33"/>
          <p:cNvSpPr/>
          <p:nvPr/>
        </p:nvSpPr>
        <p:spPr>
          <a:xfrm>
            <a:off x="7973568" y="2468880"/>
            <a:ext cx="1975104" cy="0"/>
          </a:xfrm>
          <a:prstGeom prst="line">
            <a:avLst/>
          </a:prstGeom>
          <a:noFill/>
          <a:ln w="6350">
            <a:solidFill>
              <a:srgbClr val="D4D4CF">
                <a:alpha val="70000"/>
              </a:srgbClr>
            </a:solidFill>
            <a:prstDash val="solid"/>
          </a:ln>
        </p:spPr>
      </p:sp>
      <p:sp>
        <p:nvSpPr>
          <p:cNvPr id="36" name="Shape 34"/>
          <p:cNvSpPr/>
          <p:nvPr/>
        </p:nvSpPr>
        <p:spPr>
          <a:xfrm>
            <a:off x="7973568" y="2468880"/>
            <a:ext cx="1975104" cy="2926080"/>
          </a:xfrm>
          <a:prstGeom prst="line">
            <a:avLst/>
          </a:prstGeom>
          <a:noFill/>
          <a:ln w="6350">
            <a:solidFill>
              <a:srgbClr val="D4D4CF">
                <a:alpha val="70000"/>
              </a:srgbClr>
            </a:solidFill>
            <a:prstDash val="solid"/>
          </a:ln>
        </p:spPr>
      </p:sp>
      <p:sp>
        <p:nvSpPr>
          <p:cNvPr id="37" name="Shape 35"/>
          <p:cNvSpPr/>
          <p:nvPr/>
        </p:nvSpPr>
        <p:spPr>
          <a:xfrm>
            <a:off x="7973568" y="3444240"/>
            <a:ext cx="1975104" cy="-975360"/>
          </a:xfrm>
          <a:prstGeom prst="line">
            <a:avLst/>
          </a:prstGeom>
          <a:noFill/>
          <a:ln w="6350">
            <a:solidFill>
              <a:srgbClr val="D4D4CF">
                <a:alpha val="70000"/>
              </a:srgbClr>
            </a:solidFill>
            <a:prstDash val="solid"/>
          </a:ln>
        </p:spPr>
      </p:sp>
      <p:sp>
        <p:nvSpPr>
          <p:cNvPr id="38" name="Shape 36"/>
          <p:cNvSpPr/>
          <p:nvPr/>
        </p:nvSpPr>
        <p:spPr>
          <a:xfrm>
            <a:off x="7973568" y="3444240"/>
            <a:ext cx="1975104" cy="1950720"/>
          </a:xfrm>
          <a:prstGeom prst="line">
            <a:avLst/>
          </a:prstGeom>
          <a:noFill/>
          <a:ln w="6350">
            <a:solidFill>
              <a:srgbClr val="D4D4CF">
                <a:alpha val="70000"/>
              </a:srgbClr>
            </a:solidFill>
            <a:prstDash val="solid"/>
          </a:ln>
        </p:spPr>
      </p:sp>
      <p:sp>
        <p:nvSpPr>
          <p:cNvPr id="39" name="Shape 37"/>
          <p:cNvSpPr/>
          <p:nvPr/>
        </p:nvSpPr>
        <p:spPr>
          <a:xfrm>
            <a:off x="7973568" y="4419600"/>
            <a:ext cx="1975104" cy="-1950720"/>
          </a:xfrm>
          <a:prstGeom prst="line">
            <a:avLst/>
          </a:prstGeom>
          <a:noFill/>
          <a:ln w="6350">
            <a:solidFill>
              <a:srgbClr val="D4D4CF">
                <a:alpha val="70000"/>
              </a:srgbClr>
            </a:solidFill>
            <a:prstDash val="solid"/>
          </a:ln>
        </p:spPr>
      </p:sp>
      <p:sp>
        <p:nvSpPr>
          <p:cNvPr id="40" name="Shape 38"/>
          <p:cNvSpPr/>
          <p:nvPr/>
        </p:nvSpPr>
        <p:spPr>
          <a:xfrm>
            <a:off x="7973568" y="4419600"/>
            <a:ext cx="1975104" cy="975360"/>
          </a:xfrm>
          <a:prstGeom prst="line">
            <a:avLst/>
          </a:prstGeom>
          <a:noFill/>
          <a:ln w="6350">
            <a:solidFill>
              <a:srgbClr val="D4D4CF">
                <a:alpha val="70000"/>
              </a:srgbClr>
            </a:solidFill>
            <a:prstDash val="solid"/>
          </a:ln>
        </p:spPr>
      </p:sp>
      <p:sp>
        <p:nvSpPr>
          <p:cNvPr id="41" name="Shape 39"/>
          <p:cNvSpPr/>
          <p:nvPr/>
        </p:nvSpPr>
        <p:spPr>
          <a:xfrm>
            <a:off x="7973568" y="5394960"/>
            <a:ext cx="1975104" cy="-2926080"/>
          </a:xfrm>
          <a:prstGeom prst="line">
            <a:avLst/>
          </a:prstGeom>
          <a:noFill/>
          <a:ln w="6350">
            <a:solidFill>
              <a:srgbClr val="D4D4CF">
                <a:alpha val="70000"/>
              </a:srgbClr>
            </a:solidFill>
            <a:prstDash val="solid"/>
          </a:ln>
        </p:spPr>
      </p:sp>
      <p:sp>
        <p:nvSpPr>
          <p:cNvPr id="42" name="Shape 40"/>
          <p:cNvSpPr/>
          <p:nvPr/>
        </p:nvSpPr>
        <p:spPr>
          <a:xfrm>
            <a:off x="7973568" y="5394960"/>
            <a:ext cx="1975104" cy="0"/>
          </a:xfrm>
          <a:prstGeom prst="line">
            <a:avLst/>
          </a:prstGeom>
          <a:noFill/>
          <a:ln w="6350">
            <a:solidFill>
              <a:srgbClr val="D4D4CF">
                <a:alpha val="70000"/>
              </a:srgbClr>
            </a:solidFill>
            <a:prstDash val="solid"/>
          </a:ln>
        </p:spPr>
      </p:sp>
      <p:sp>
        <p:nvSpPr>
          <p:cNvPr id="43" name="Shape 41"/>
          <p:cNvSpPr/>
          <p:nvPr/>
        </p:nvSpPr>
        <p:spPr>
          <a:xfrm>
            <a:off x="1536192" y="2176272"/>
            <a:ext cx="585216" cy="585216"/>
          </a:xfrm>
          <a:prstGeom prst="ellipse">
            <a:avLst/>
          </a:prstGeom>
          <a:solidFill>
            <a:srgbClr val="FFFFFF"/>
          </a:solidFill>
          <a:ln w="25400">
            <a:solidFill>
              <a:srgbClr val="2D7A7E"/>
            </a:solidFill>
            <a:prstDash val="solid"/>
          </a:ln>
        </p:spPr>
      </p:sp>
      <p:sp>
        <p:nvSpPr>
          <p:cNvPr id="44" name="Shape 42"/>
          <p:cNvSpPr/>
          <p:nvPr/>
        </p:nvSpPr>
        <p:spPr>
          <a:xfrm>
            <a:off x="1536192" y="3639312"/>
            <a:ext cx="585216" cy="585216"/>
          </a:xfrm>
          <a:prstGeom prst="ellipse">
            <a:avLst/>
          </a:prstGeom>
          <a:solidFill>
            <a:srgbClr val="FFFFFF"/>
          </a:solidFill>
          <a:ln w="25400">
            <a:solidFill>
              <a:srgbClr val="2D7A7E"/>
            </a:solidFill>
            <a:prstDash val="solid"/>
          </a:ln>
        </p:spPr>
      </p:sp>
      <p:sp>
        <p:nvSpPr>
          <p:cNvPr id="45" name="Shape 43"/>
          <p:cNvSpPr/>
          <p:nvPr/>
        </p:nvSpPr>
        <p:spPr>
          <a:xfrm>
            <a:off x="1536192" y="5102352"/>
            <a:ext cx="585216" cy="585216"/>
          </a:xfrm>
          <a:prstGeom prst="ellipse">
            <a:avLst/>
          </a:prstGeom>
          <a:solidFill>
            <a:srgbClr val="FFFFFF"/>
          </a:solidFill>
          <a:ln w="25400">
            <a:solidFill>
              <a:srgbClr val="2D7A7E"/>
            </a:solidFill>
            <a:prstDash val="solid"/>
          </a:ln>
        </p:spPr>
      </p:sp>
      <p:sp>
        <p:nvSpPr>
          <p:cNvPr id="46" name="Text 44"/>
          <p:cNvSpPr/>
          <p:nvPr/>
        </p:nvSpPr>
        <p:spPr>
          <a:xfrm>
            <a:off x="822960" y="5623560"/>
            <a:ext cx="2011680" cy="274320"/>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Input Layer</a:t>
            </a:r>
            <a:endParaRPr lang="en-US" sz="1100" dirty="0"/>
          </a:p>
        </p:txBody>
      </p:sp>
      <p:sp>
        <p:nvSpPr>
          <p:cNvPr id="47" name="Text 45"/>
          <p:cNvSpPr/>
          <p:nvPr/>
        </p:nvSpPr>
        <p:spPr>
          <a:xfrm>
            <a:off x="822960" y="5897880"/>
            <a:ext cx="2011680" cy="228600"/>
          </a:xfrm>
          <a:prstGeom prst="rect">
            <a:avLst/>
          </a:prstGeom>
          <a:noFill/>
          <a:ln/>
        </p:spPr>
        <p:txBody>
          <a:bodyPr wrap="square" rtlCol="0" anchor="ctr"/>
          <a:lstStyle/>
          <a:p>
            <a:pPr algn="ctr" indent="0" marL="0">
              <a:buNone/>
            </a:pPr>
            <a:r>
              <a:rPr lang="en-US" sz="900" i="1" dirty="0">
                <a:solidFill>
                  <a:srgbClr val="5A5A5A"/>
                </a:solidFill>
                <a:latin typeface="Calibri" pitchFamily="34" charset="0"/>
                <a:ea typeface="Calibri" pitchFamily="34" charset="-122"/>
                <a:cs typeface="Calibri" pitchFamily="34" charset="-120"/>
              </a:rPr>
              <a:t>raw features</a:t>
            </a:r>
            <a:endParaRPr lang="en-US" sz="900" dirty="0"/>
          </a:p>
        </p:txBody>
      </p:sp>
      <p:sp>
        <p:nvSpPr>
          <p:cNvPr id="48" name="Shape 46"/>
          <p:cNvSpPr/>
          <p:nvPr/>
        </p:nvSpPr>
        <p:spPr>
          <a:xfrm>
            <a:off x="4462272" y="2176272"/>
            <a:ext cx="585216" cy="585216"/>
          </a:xfrm>
          <a:prstGeom prst="ellipse">
            <a:avLst/>
          </a:prstGeom>
          <a:solidFill>
            <a:srgbClr val="FFFFFF"/>
          </a:solidFill>
          <a:ln w="25400">
            <a:solidFill>
              <a:srgbClr val="A14552"/>
            </a:solidFill>
            <a:prstDash val="solid"/>
          </a:ln>
        </p:spPr>
      </p:sp>
      <p:sp>
        <p:nvSpPr>
          <p:cNvPr id="49" name="Shape 47"/>
          <p:cNvSpPr/>
          <p:nvPr/>
        </p:nvSpPr>
        <p:spPr>
          <a:xfrm>
            <a:off x="4462272" y="3151632"/>
            <a:ext cx="585216" cy="585216"/>
          </a:xfrm>
          <a:prstGeom prst="ellipse">
            <a:avLst/>
          </a:prstGeom>
          <a:solidFill>
            <a:srgbClr val="FFFFFF"/>
          </a:solidFill>
          <a:ln w="25400">
            <a:solidFill>
              <a:srgbClr val="A14552"/>
            </a:solidFill>
            <a:prstDash val="solid"/>
          </a:ln>
        </p:spPr>
      </p:sp>
      <p:sp>
        <p:nvSpPr>
          <p:cNvPr id="50" name="Shape 48"/>
          <p:cNvSpPr/>
          <p:nvPr/>
        </p:nvSpPr>
        <p:spPr>
          <a:xfrm>
            <a:off x="4462272" y="4126992"/>
            <a:ext cx="585216" cy="585216"/>
          </a:xfrm>
          <a:prstGeom prst="ellipse">
            <a:avLst/>
          </a:prstGeom>
          <a:solidFill>
            <a:srgbClr val="FFFFFF"/>
          </a:solidFill>
          <a:ln w="25400">
            <a:solidFill>
              <a:srgbClr val="A14552"/>
            </a:solidFill>
            <a:prstDash val="solid"/>
          </a:ln>
        </p:spPr>
      </p:sp>
      <p:sp>
        <p:nvSpPr>
          <p:cNvPr id="51" name="Shape 49"/>
          <p:cNvSpPr/>
          <p:nvPr/>
        </p:nvSpPr>
        <p:spPr>
          <a:xfrm>
            <a:off x="4462272" y="5102352"/>
            <a:ext cx="585216" cy="585216"/>
          </a:xfrm>
          <a:prstGeom prst="ellipse">
            <a:avLst/>
          </a:prstGeom>
          <a:solidFill>
            <a:srgbClr val="FFFFFF"/>
          </a:solidFill>
          <a:ln w="25400">
            <a:solidFill>
              <a:srgbClr val="A14552"/>
            </a:solidFill>
            <a:prstDash val="solid"/>
          </a:ln>
        </p:spPr>
      </p:sp>
      <p:sp>
        <p:nvSpPr>
          <p:cNvPr id="52" name="Text 50"/>
          <p:cNvSpPr/>
          <p:nvPr/>
        </p:nvSpPr>
        <p:spPr>
          <a:xfrm>
            <a:off x="3749040" y="5623560"/>
            <a:ext cx="2011680" cy="274320"/>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Hidden Layer 1</a:t>
            </a:r>
            <a:endParaRPr lang="en-US" sz="1100" dirty="0"/>
          </a:p>
        </p:txBody>
      </p:sp>
      <p:sp>
        <p:nvSpPr>
          <p:cNvPr id="53" name="Text 51"/>
          <p:cNvSpPr/>
          <p:nvPr/>
        </p:nvSpPr>
        <p:spPr>
          <a:xfrm>
            <a:off x="3749040" y="5897880"/>
            <a:ext cx="2011680" cy="228600"/>
          </a:xfrm>
          <a:prstGeom prst="rect">
            <a:avLst/>
          </a:prstGeom>
          <a:noFill/>
          <a:ln/>
        </p:spPr>
        <p:txBody>
          <a:bodyPr wrap="square" rtlCol="0" anchor="ctr"/>
          <a:lstStyle/>
          <a:p>
            <a:pPr algn="ctr" indent="0" marL="0">
              <a:buNone/>
            </a:pPr>
            <a:r>
              <a:rPr lang="en-US" sz="900" i="1" dirty="0">
                <a:solidFill>
                  <a:srgbClr val="5A5A5A"/>
                </a:solidFill>
                <a:latin typeface="Calibri" pitchFamily="34" charset="0"/>
                <a:ea typeface="Calibri" pitchFamily="34" charset="-122"/>
                <a:cs typeface="Calibri" pitchFamily="34" charset="-120"/>
              </a:rPr>
              <a:t>feature detectors</a:t>
            </a:r>
            <a:endParaRPr lang="en-US" sz="900" dirty="0"/>
          </a:p>
        </p:txBody>
      </p:sp>
      <p:sp>
        <p:nvSpPr>
          <p:cNvPr id="54" name="Shape 52"/>
          <p:cNvSpPr/>
          <p:nvPr/>
        </p:nvSpPr>
        <p:spPr>
          <a:xfrm>
            <a:off x="7388352" y="2176272"/>
            <a:ext cx="585216" cy="585216"/>
          </a:xfrm>
          <a:prstGeom prst="ellipse">
            <a:avLst/>
          </a:prstGeom>
          <a:solidFill>
            <a:srgbClr val="FFFFFF"/>
          </a:solidFill>
          <a:ln w="25400">
            <a:solidFill>
              <a:srgbClr val="A14552"/>
            </a:solidFill>
            <a:prstDash val="solid"/>
          </a:ln>
        </p:spPr>
      </p:sp>
      <p:sp>
        <p:nvSpPr>
          <p:cNvPr id="55" name="Shape 53"/>
          <p:cNvSpPr/>
          <p:nvPr/>
        </p:nvSpPr>
        <p:spPr>
          <a:xfrm>
            <a:off x="7388352" y="3151632"/>
            <a:ext cx="585216" cy="585216"/>
          </a:xfrm>
          <a:prstGeom prst="ellipse">
            <a:avLst/>
          </a:prstGeom>
          <a:solidFill>
            <a:srgbClr val="FFFFFF"/>
          </a:solidFill>
          <a:ln w="25400">
            <a:solidFill>
              <a:srgbClr val="A14552"/>
            </a:solidFill>
            <a:prstDash val="solid"/>
          </a:ln>
        </p:spPr>
      </p:sp>
      <p:sp>
        <p:nvSpPr>
          <p:cNvPr id="56" name="Shape 54"/>
          <p:cNvSpPr/>
          <p:nvPr/>
        </p:nvSpPr>
        <p:spPr>
          <a:xfrm>
            <a:off x="7388352" y="4126992"/>
            <a:ext cx="585216" cy="585216"/>
          </a:xfrm>
          <a:prstGeom prst="ellipse">
            <a:avLst/>
          </a:prstGeom>
          <a:solidFill>
            <a:srgbClr val="FFFFFF"/>
          </a:solidFill>
          <a:ln w="25400">
            <a:solidFill>
              <a:srgbClr val="A14552"/>
            </a:solidFill>
            <a:prstDash val="solid"/>
          </a:ln>
        </p:spPr>
      </p:sp>
      <p:sp>
        <p:nvSpPr>
          <p:cNvPr id="57" name="Shape 55"/>
          <p:cNvSpPr/>
          <p:nvPr/>
        </p:nvSpPr>
        <p:spPr>
          <a:xfrm>
            <a:off x="7388352" y="5102352"/>
            <a:ext cx="585216" cy="585216"/>
          </a:xfrm>
          <a:prstGeom prst="ellipse">
            <a:avLst/>
          </a:prstGeom>
          <a:solidFill>
            <a:srgbClr val="FFFFFF"/>
          </a:solidFill>
          <a:ln w="25400">
            <a:solidFill>
              <a:srgbClr val="A14552"/>
            </a:solidFill>
            <a:prstDash val="solid"/>
          </a:ln>
        </p:spPr>
      </p:sp>
      <p:sp>
        <p:nvSpPr>
          <p:cNvPr id="58" name="Text 56"/>
          <p:cNvSpPr/>
          <p:nvPr/>
        </p:nvSpPr>
        <p:spPr>
          <a:xfrm>
            <a:off x="6675120" y="5623560"/>
            <a:ext cx="2011680" cy="274320"/>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Hidden Layer 2</a:t>
            </a:r>
            <a:endParaRPr lang="en-US" sz="1100" dirty="0"/>
          </a:p>
        </p:txBody>
      </p:sp>
      <p:sp>
        <p:nvSpPr>
          <p:cNvPr id="59" name="Text 57"/>
          <p:cNvSpPr/>
          <p:nvPr/>
        </p:nvSpPr>
        <p:spPr>
          <a:xfrm>
            <a:off x="6675120" y="5897880"/>
            <a:ext cx="2011680" cy="228600"/>
          </a:xfrm>
          <a:prstGeom prst="rect">
            <a:avLst/>
          </a:prstGeom>
          <a:noFill/>
          <a:ln/>
        </p:spPr>
        <p:txBody>
          <a:bodyPr wrap="square" rtlCol="0" anchor="ctr"/>
          <a:lstStyle/>
          <a:p>
            <a:pPr algn="ctr" indent="0" marL="0">
              <a:buNone/>
            </a:pPr>
            <a:r>
              <a:rPr lang="en-US" sz="900" i="1" dirty="0">
                <a:solidFill>
                  <a:srgbClr val="5A5A5A"/>
                </a:solidFill>
                <a:latin typeface="Calibri" pitchFamily="34" charset="0"/>
                <a:ea typeface="Calibri" pitchFamily="34" charset="-122"/>
                <a:cs typeface="Calibri" pitchFamily="34" charset="-120"/>
              </a:rPr>
              <a:t>abstract concepts</a:t>
            </a:r>
            <a:endParaRPr lang="en-US" sz="900" dirty="0"/>
          </a:p>
        </p:txBody>
      </p:sp>
      <p:sp>
        <p:nvSpPr>
          <p:cNvPr id="60" name="Shape 58"/>
          <p:cNvSpPr/>
          <p:nvPr/>
        </p:nvSpPr>
        <p:spPr>
          <a:xfrm>
            <a:off x="9948672" y="2176272"/>
            <a:ext cx="585216" cy="585216"/>
          </a:xfrm>
          <a:prstGeom prst="ellipse">
            <a:avLst/>
          </a:prstGeom>
          <a:solidFill>
            <a:srgbClr val="FFFFFF"/>
          </a:solidFill>
          <a:ln w="25400">
            <a:solidFill>
              <a:srgbClr val="7A1F2B"/>
            </a:solidFill>
            <a:prstDash val="solid"/>
          </a:ln>
        </p:spPr>
      </p:sp>
      <p:sp>
        <p:nvSpPr>
          <p:cNvPr id="61" name="Shape 59"/>
          <p:cNvSpPr/>
          <p:nvPr/>
        </p:nvSpPr>
        <p:spPr>
          <a:xfrm>
            <a:off x="9948672" y="5102352"/>
            <a:ext cx="585216" cy="585216"/>
          </a:xfrm>
          <a:prstGeom prst="ellipse">
            <a:avLst/>
          </a:prstGeom>
          <a:solidFill>
            <a:srgbClr val="FFFFFF"/>
          </a:solidFill>
          <a:ln w="25400">
            <a:solidFill>
              <a:srgbClr val="7A1F2B"/>
            </a:solidFill>
            <a:prstDash val="solid"/>
          </a:ln>
        </p:spPr>
      </p:sp>
      <p:sp>
        <p:nvSpPr>
          <p:cNvPr id="62" name="Text 60"/>
          <p:cNvSpPr/>
          <p:nvPr/>
        </p:nvSpPr>
        <p:spPr>
          <a:xfrm>
            <a:off x="9235440" y="5623560"/>
            <a:ext cx="2011680" cy="274320"/>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Output Layer</a:t>
            </a:r>
            <a:endParaRPr lang="en-US" sz="1100" dirty="0"/>
          </a:p>
        </p:txBody>
      </p:sp>
      <p:sp>
        <p:nvSpPr>
          <p:cNvPr id="63" name="Text 61"/>
          <p:cNvSpPr/>
          <p:nvPr/>
        </p:nvSpPr>
        <p:spPr>
          <a:xfrm>
            <a:off x="9235440" y="5897880"/>
            <a:ext cx="2011680" cy="228600"/>
          </a:xfrm>
          <a:prstGeom prst="rect">
            <a:avLst/>
          </a:prstGeom>
          <a:noFill/>
          <a:ln/>
        </p:spPr>
        <p:txBody>
          <a:bodyPr wrap="square" rtlCol="0" anchor="ctr"/>
          <a:lstStyle/>
          <a:p>
            <a:pPr algn="ctr" indent="0" marL="0">
              <a:buNone/>
            </a:pPr>
            <a:r>
              <a:rPr lang="en-US" sz="900" i="1" dirty="0">
                <a:solidFill>
                  <a:srgbClr val="5A5A5A"/>
                </a:solidFill>
                <a:latin typeface="Calibri" pitchFamily="34" charset="0"/>
                <a:ea typeface="Calibri" pitchFamily="34" charset="-122"/>
                <a:cs typeface="Calibri" pitchFamily="34" charset="-120"/>
              </a:rPr>
              <a:t>predictions</a:t>
            </a:r>
            <a:endParaRPr lang="en-US" sz="900" dirty="0"/>
          </a:p>
        </p:txBody>
      </p:sp>
      <p:sp>
        <p:nvSpPr>
          <p:cNvPr id="64" name="Text 62"/>
          <p:cNvSpPr/>
          <p:nvPr/>
        </p:nvSpPr>
        <p:spPr>
          <a:xfrm>
            <a:off x="548640" y="2011680"/>
            <a:ext cx="11064240" cy="274320"/>
          </a:xfrm>
          <a:prstGeom prst="rect">
            <a:avLst/>
          </a:prstGeom>
          <a:noFill/>
          <a:ln/>
        </p:spPr>
        <p:txBody>
          <a:bodyPr wrap="square" rtlCol="0" anchor="ctr"/>
          <a:lstStyle/>
          <a:p>
            <a:pPr algn="ctr" indent="0" marL="0">
              <a:buNone/>
            </a:pPr>
            <a:r>
              <a:rPr lang="en-US" sz="1000" b="1" spc="600" kern="0" dirty="0">
                <a:solidFill>
                  <a:srgbClr val="7A1F2B"/>
                </a:solidFill>
                <a:latin typeface="Calibri" pitchFamily="34" charset="0"/>
                <a:ea typeface="Calibri" pitchFamily="34" charset="-122"/>
                <a:cs typeface="Calibri" pitchFamily="34" charset="-120"/>
              </a:rPr>
              <a:t>→   D A T A   F L O W   →</a:t>
            </a:r>
            <a:endParaRPr lang="en-US" sz="1000" dirty="0"/>
          </a:p>
        </p:txBody>
      </p:sp>
      <p:sp>
        <p:nvSpPr>
          <p:cNvPr id="65" name="Shape 63"/>
          <p:cNvSpPr/>
          <p:nvPr/>
        </p:nvSpPr>
        <p:spPr>
          <a:xfrm>
            <a:off x="548640" y="6446520"/>
            <a:ext cx="11064240" cy="0"/>
          </a:xfrm>
          <a:prstGeom prst="line">
            <a:avLst/>
          </a:prstGeom>
          <a:noFill/>
          <a:ln w="6350">
            <a:solidFill>
              <a:srgbClr val="D4D4CF"/>
            </a:solidFill>
            <a:prstDash val="solid"/>
          </a:ln>
        </p:spPr>
      </p:sp>
      <p:sp>
        <p:nvSpPr>
          <p:cNvPr id="66" name="Text 64"/>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67" name="Text 65"/>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COMPONENT  01</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914400"/>
            <a:ext cx="1097280" cy="640080"/>
          </a:xfrm>
          <a:prstGeom prst="rect">
            <a:avLst/>
          </a:prstGeom>
          <a:noFill/>
          <a:ln/>
        </p:spPr>
        <p:txBody>
          <a:bodyPr wrap="square" rtlCol="0" anchor="ctr"/>
          <a:lstStyle/>
          <a:p>
            <a:pPr indent="0" marL="0">
              <a:buNone/>
            </a:pPr>
            <a:r>
              <a:rPr lang="en-US" sz="4400" i="1" dirty="0">
                <a:solidFill>
                  <a:srgbClr val="7A1F2B"/>
                </a:solidFill>
                <a:latin typeface="Cambria" pitchFamily="34" charset="0"/>
                <a:ea typeface="Cambria" pitchFamily="34" charset="-122"/>
                <a:cs typeface="Cambria" pitchFamily="34" charset="-120"/>
              </a:rPr>
              <a:t>01</a:t>
            </a:r>
            <a:endParaRPr lang="en-US" sz="4400" dirty="0"/>
          </a:p>
        </p:txBody>
      </p:sp>
      <p:sp>
        <p:nvSpPr>
          <p:cNvPr id="6" name="Text 4"/>
          <p:cNvSpPr/>
          <p:nvPr/>
        </p:nvSpPr>
        <p:spPr>
          <a:xfrm>
            <a:off x="2011680" y="960120"/>
            <a:ext cx="9601200" cy="777240"/>
          </a:xfrm>
          <a:prstGeom prst="rect">
            <a:avLst/>
          </a:prstGeom>
          <a:noFill/>
          <a:ln/>
        </p:spPr>
        <p:txBody>
          <a:bodyPr wrap="square"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Layers</a:t>
            </a:r>
            <a:endParaRPr lang="en-US" sz="4000" dirty="0"/>
          </a:p>
        </p:txBody>
      </p:sp>
      <p:sp>
        <p:nvSpPr>
          <p:cNvPr id="7" name="Text 5"/>
          <p:cNvSpPr/>
          <p:nvPr/>
        </p:nvSpPr>
        <p:spPr>
          <a:xfrm>
            <a:off x="2011680" y="1755648"/>
            <a:ext cx="9601200" cy="411480"/>
          </a:xfrm>
          <a:prstGeom prst="rect">
            <a:avLst/>
          </a:prstGeom>
          <a:noFill/>
          <a:ln/>
        </p:spPr>
        <p:txBody>
          <a:bodyPr wrap="square"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Stacked groups of neurons that progressively transform inputs into outputs.</a:t>
            </a:r>
            <a:endParaRPr lang="en-US" sz="1400" dirty="0"/>
          </a:p>
        </p:txBody>
      </p:sp>
      <p:sp>
        <p:nvSpPr>
          <p:cNvPr id="8" name="Shape 6"/>
          <p:cNvSpPr/>
          <p:nvPr/>
        </p:nvSpPr>
        <p:spPr>
          <a:xfrm>
            <a:off x="548640" y="2423160"/>
            <a:ext cx="5486400" cy="3749040"/>
          </a:xfrm>
          <a:prstGeom prst="rect">
            <a:avLst/>
          </a:prstGeom>
          <a:solidFill>
            <a:srgbClr val="FFFFFF"/>
          </a:solidFill>
          <a:ln w="9525">
            <a:solidFill>
              <a:srgbClr val="D4D4CF"/>
            </a:solidFill>
            <a:prstDash val="solid"/>
          </a:ln>
        </p:spPr>
      </p:sp>
      <p:sp>
        <p:nvSpPr>
          <p:cNvPr id="9" name="Shape 7"/>
          <p:cNvSpPr/>
          <p:nvPr/>
        </p:nvSpPr>
        <p:spPr>
          <a:xfrm>
            <a:off x="548640" y="2423160"/>
            <a:ext cx="73152" cy="3749040"/>
          </a:xfrm>
          <a:prstGeom prst="rect">
            <a:avLst/>
          </a:prstGeom>
          <a:solidFill>
            <a:srgbClr val="7A1F2B"/>
          </a:solidFill>
          <a:ln/>
        </p:spPr>
      </p:sp>
      <p:sp>
        <p:nvSpPr>
          <p:cNvPr id="10" name="Text 8"/>
          <p:cNvSpPr/>
          <p:nvPr/>
        </p:nvSpPr>
        <p:spPr>
          <a:xfrm>
            <a:off x="822960" y="2606040"/>
            <a:ext cx="512064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DEFINITION</a:t>
            </a:r>
            <a:endParaRPr lang="en-US" sz="1000" dirty="0"/>
          </a:p>
        </p:txBody>
      </p:sp>
      <p:sp>
        <p:nvSpPr>
          <p:cNvPr id="11" name="Text 9"/>
          <p:cNvSpPr/>
          <p:nvPr/>
        </p:nvSpPr>
        <p:spPr>
          <a:xfrm>
            <a:off x="822960" y="2907792"/>
            <a:ext cx="5120640" cy="310896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A layer is a horizontal group of neurons that all receive input from the previous layer and pass their output to the next. The three canonical types are the input layer (which receives raw features), one or more hidden layers (where representation learning happens), and the output layer (which produces the prediction).</a:t>
            </a:r>
            <a:endParaRPr lang="en-US" sz="1300" dirty="0"/>
          </a:p>
        </p:txBody>
      </p:sp>
      <p:sp>
        <p:nvSpPr>
          <p:cNvPr id="12" name="Shape 10"/>
          <p:cNvSpPr/>
          <p:nvPr/>
        </p:nvSpPr>
        <p:spPr>
          <a:xfrm>
            <a:off x="6309360" y="2423160"/>
            <a:ext cx="5303520" cy="3749040"/>
          </a:xfrm>
          <a:prstGeom prst="rect">
            <a:avLst/>
          </a:prstGeom>
          <a:solidFill>
            <a:srgbClr val="FFFFFF"/>
          </a:solidFill>
          <a:ln w="9525">
            <a:solidFill>
              <a:srgbClr val="D4D4CF"/>
            </a:solidFill>
            <a:prstDash val="solid"/>
          </a:ln>
        </p:spPr>
      </p:sp>
      <p:sp>
        <p:nvSpPr>
          <p:cNvPr id="13" name="Shape 11"/>
          <p:cNvSpPr/>
          <p:nvPr/>
        </p:nvSpPr>
        <p:spPr>
          <a:xfrm>
            <a:off x="6309360" y="2423160"/>
            <a:ext cx="73152" cy="3749040"/>
          </a:xfrm>
          <a:prstGeom prst="rect">
            <a:avLst/>
          </a:prstGeom>
          <a:solidFill>
            <a:srgbClr val="7A1F2B"/>
          </a:solidFill>
          <a:ln/>
        </p:spPr>
      </p:sp>
      <p:sp>
        <p:nvSpPr>
          <p:cNvPr id="14" name="Text 12"/>
          <p:cNvSpPr/>
          <p:nvPr/>
        </p:nvSpPr>
        <p:spPr>
          <a:xfrm>
            <a:off x="6583680" y="2606040"/>
            <a:ext cx="493776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ROLE IN THE NETWORK</a:t>
            </a:r>
            <a:endParaRPr lang="en-US" sz="1000" dirty="0"/>
          </a:p>
        </p:txBody>
      </p:sp>
      <p:sp>
        <p:nvSpPr>
          <p:cNvPr id="15" name="Text 13"/>
          <p:cNvSpPr/>
          <p:nvPr/>
        </p:nvSpPr>
        <p:spPr>
          <a:xfrm>
            <a:off x="6583680" y="2907792"/>
            <a:ext cx="4937760" cy="310896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Layers create depth, and depth gives a network the capacity to learn hierarchical abstractions: early hidden layers capture simple patterns, later ones combine those into more abstract concepts. A network with no hidden layers can only learn linear relationships; even one hidden layer with enough neurons is, in theory, a universal approximator (IBM, n.d.).</a:t>
            </a:r>
            <a:endParaRPr lang="en-US" sz="1300" dirty="0"/>
          </a:p>
        </p:txBody>
      </p:sp>
      <p:sp>
        <p:nvSpPr>
          <p:cNvPr id="16" name="Shape 14"/>
          <p:cNvSpPr/>
          <p:nvPr/>
        </p:nvSpPr>
        <p:spPr>
          <a:xfrm>
            <a:off x="548640" y="6446520"/>
            <a:ext cx="11064240" cy="0"/>
          </a:xfrm>
          <a:prstGeom prst="line">
            <a:avLst/>
          </a:prstGeom>
          <a:noFill/>
          <a:ln w="6350">
            <a:solidFill>
              <a:srgbClr val="D4D4CF"/>
            </a:solidFill>
            <a:prstDash val="solid"/>
          </a:ln>
        </p:spPr>
      </p:sp>
      <p:sp>
        <p:nvSpPr>
          <p:cNvPr id="17" name="Text 15"/>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18" name="Text 16"/>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COMPONENT  02</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914400"/>
            <a:ext cx="1097280" cy="640080"/>
          </a:xfrm>
          <a:prstGeom prst="rect">
            <a:avLst/>
          </a:prstGeom>
          <a:noFill/>
          <a:ln/>
        </p:spPr>
        <p:txBody>
          <a:bodyPr wrap="square" rtlCol="0" anchor="ctr"/>
          <a:lstStyle/>
          <a:p>
            <a:pPr indent="0" marL="0">
              <a:buNone/>
            </a:pPr>
            <a:r>
              <a:rPr lang="en-US" sz="4400" i="1" dirty="0">
                <a:solidFill>
                  <a:srgbClr val="7A1F2B"/>
                </a:solidFill>
                <a:latin typeface="Cambria" pitchFamily="34" charset="0"/>
                <a:ea typeface="Cambria" pitchFamily="34" charset="-122"/>
                <a:cs typeface="Cambria" pitchFamily="34" charset="-120"/>
              </a:rPr>
              <a:t>02</a:t>
            </a:r>
            <a:endParaRPr lang="en-US" sz="4400" dirty="0"/>
          </a:p>
        </p:txBody>
      </p:sp>
      <p:sp>
        <p:nvSpPr>
          <p:cNvPr id="6" name="Text 4"/>
          <p:cNvSpPr/>
          <p:nvPr/>
        </p:nvSpPr>
        <p:spPr>
          <a:xfrm>
            <a:off x="2011680" y="960120"/>
            <a:ext cx="9601200" cy="777240"/>
          </a:xfrm>
          <a:prstGeom prst="rect">
            <a:avLst/>
          </a:prstGeom>
          <a:noFill/>
          <a:ln/>
        </p:spPr>
        <p:txBody>
          <a:bodyPr wrap="square"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Neurons</a:t>
            </a:r>
            <a:endParaRPr lang="en-US" sz="4000" dirty="0"/>
          </a:p>
        </p:txBody>
      </p:sp>
      <p:sp>
        <p:nvSpPr>
          <p:cNvPr id="7" name="Text 5"/>
          <p:cNvSpPr/>
          <p:nvPr/>
        </p:nvSpPr>
        <p:spPr>
          <a:xfrm>
            <a:off x="2011680" y="1755648"/>
            <a:ext cx="9601200" cy="411480"/>
          </a:xfrm>
          <a:prstGeom prst="rect">
            <a:avLst/>
          </a:prstGeom>
          <a:noFill/>
          <a:ln/>
        </p:spPr>
        <p:txBody>
          <a:bodyPr wrap="square"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The computational unit at the heart of the network.</a:t>
            </a:r>
            <a:endParaRPr lang="en-US" sz="1400" dirty="0"/>
          </a:p>
        </p:txBody>
      </p:sp>
      <p:sp>
        <p:nvSpPr>
          <p:cNvPr id="8" name="Shape 6"/>
          <p:cNvSpPr/>
          <p:nvPr/>
        </p:nvSpPr>
        <p:spPr>
          <a:xfrm>
            <a:off x="548640" y="2423160"/>
            <a:ext cx="5486400" cy="3749040"/>
          </a:xfrm>
          <a:prstGeom prst="rect">
            <a:avLst/>
          </a:prstGeom>
          <a:solidFill>
            <a:srgbClr val="FFFFFF"/>
          </a:solidFill>
          <a:ln w="9525">
            <a:solidFill>
              <a:srgbClr val="D4D4CF"/>
            </a:solidFill>
            <a:prstDash val="solid"/>
          </a:ln>
        </p:spPr>
      </p:sp>
      <p:sp>
        <p:nvSpPr>
          <p:cNvPr id="9" name="Shape 7"/>
          <p:cNvSpPr/>
          <p:nvPr/>
        </p:nvSpPr>
        <p:spPr>
          <a:xfrm>
            <a:off x="548640" y="2423160"/>
            <a:ext cx="73152" cy="3749040"/>
          </a:xfrm>
          <a:prstGeom prst="rect">
            <a:avLst/>
          </a:prstGeom>
          <a:solidFill>
            <a:srgbClr val="7A1F2B"/>
          </a:solidFill>
          <a:ln/>
        </p:spPr>
      </p:sp>
      <p:sp>
        <p:nvSpPr>
          <p:cNvPr id="10" name="Text 8"/>
          <p:cNvSpPr/>
          <p:nvPr/>
        </p:nvSpPr>
        <p:spPr>
          <a:xfrm>
            <a:off x="822960" y="2606040"/>
            <a:ext cx="512064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DEFINITION</a:t>
            </a:r>
            <a:endParaRPr lang="en-US" sz="1000" dirty="0"/>
          </a:p>
        </p:txBody>
      </p:sp>
      <p:sp>
        <p:nvSpPr>
          <p:cNvPr id="11" name="Text 9"/>
          <p:cNvSpPr/>
          <p:nvPr/>
        </p:nvSpPr>
        <p:spPr>
          <a:xfrm>
            <a:off x="822960" y="2907792"/>
            <a:ext cx="5120640" cy="310896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A neuron receives a set of numerical inputs from the previous layer, multiplies each by an associated weight, adds a bias term, and passes the sum through an activation function. The result becomes its output — the value it forwards to every neuron in the next layer.</a:t>
            </a:r>
            <a:endParaRPr lang="en-US" sz="1300" dirty="0"/>
          </a:p>
        </p:txBody>
      </p:sp>
      <p:sp>
        <p:nvSpPr>
          <p:cNvPr id="12" name="Shape 10"/>
          <p:cNvSpPr/>
          <p:nvPr/>
        </p:nvSpPr>
        <p:spPr>
          <a:xfrm>
            <a:off x="6309360" y="2423160"/>
            <a:ext cx="5303520" cy="3749040"/>
          </a:xfrm>
          <a:prstGeom prst="rect">
            <a:avLst/>
          </a:prstGeom>
          <a:solidFill>
            <a:srgbClr val="FFFFFF"/>
          </a:solidFill>
          <a:ln w="9525">
            <a:solidFill>
              <a:srgbClr val="D4D4CF"/>
            </a:solidFill>
            <a:prstDash val="solid"/>
          </a:ln>
        </p:spPr>
      </p:sp>
      <p:sp>
        <p:nvSpPr>
          <p:cNvPr id="13" name="Shape 11"/>
          <p:cNvSpPr/>
          <p:nvPr/>
        </p:nvSpPr>
        <p:spPr>
          <a:xfrm>
            <a:off x="6309360" y="2423160"/>
            <a:ext cx="73152" cy="3749040"/>
          </a:xfrm>
          <a:prstGeom prst="rect">
            <a:avLst/>
          </a:prstGeom>
          <a:solidFill>
            <a:srgbClr val="7A1F2B"/>
          </a:solidFill>
          <a:ln/>
        </p:spPr>
      </p:sp>
      <p:sp>
        <p:nvSpPr>
          <p:cNvPr id="14" name="Text 12"/>
          <p:cNvSpPr/>
          <p:nvPr/>
        </p:nvSpPr>
        <p:spPr>
          <a:xfrm>
            <a:off x="6583680" y="2606040"/>
            <a:ext cx="493776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ROLE IN THE NETWORK</a:t>
            </a:r>
            <a:endParaRPr lang="en-US" sz="1000" dirty="0"/>
          </a:p>
        </p:txBody>
      </p:sp>
      <p:sp>
        <p:nvSpPr>
          <p:cNvPr id="15" name="Text 13"/>
          <p:cNvSpPr/>
          <p:nvPr/>
        </p:nvSpPr>
        <p:spPr>
          <a:xfrm>
            <a:off x="6583680" y="2907792"/>
            <a:ext cx="4937760" cy="310896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Each neuron is, in isolation, a simple operation: weighted sum plus non-linearity. Power comes from connecting thousands or millions of them together, so that the network as a whole can express extremely complex functions while every individual unit stays mathematically tractable (Google, 2025).</a:t>
            </a:r>
            <a:endParaRPr lang="en-US" sz="1300" dirty="0"/>
          </a:p>
        </p:txBody>
      </p:sp>
      <p:sp>
        <p:nvSpPr>
          <p:cNvPr id="16" name="Shape 14"/>
          <p:cNvSpPr/>
          <p:nvPr/>
        </p:nvSpPr>
        <p:spPr>
          <a:xfrm>
            <a:off x="548640" y="6446520"/>
            <a:ext cx="11064240" cy="0"/>
          </a:xfrm>
          <a:prstGeom prst="line">
            <a:avLst/>
          </a:prstGeom>
          <a:noFill/>
          <a:ln w="6350">
            <a:solidFill>
              <a:srgbClr val="D4D4CF"/>
            </a:solidFill>
            <a:prstDash val="solid"/>
          </a:ln>
        </p:spPr>
      </p:sp>
      <p:sp>
        <p:nvSpPr>
          <p:cNvPr id="17" name="Text 15"/>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18" name="Text 16"/>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COMPONENT  03</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914400"/>
            <a:ext cx="1097280" cy="640080"/>
          </a:xfrm>
          <a:prstGeom prst="rect">
            <a:avLst/>
          </a:prstGeom>
          <a:noFill/>
          <a:ln/>
        </p:spPr>
        <p:txBody>
          <a:bodyPr wrap="square" rtlCol="0" anchor="ctr"/>
          <a:lstStyle/>
          <a:p>
            <a:pPr indent="0" marL="0">
              <a:buNone/>
            </a:pPr>
            <a:r>
              <a:rPr lang="en-US" sz="4400" i="1" dirty="0">
                <a:solidFill>
                  <a:srgbClr val="7A1F2B"/>
                </a:solidFill>
                <a:latin typeface="Cambria" pitchFamily="34" charset="0"/>
                <a:ea typeface="Cambria" pitchFamily="34" charset="-122"/>
                <a:cs typeface="Cambria" pitchFamily="34" charset="-120"/>
              </a:rPr>
              <a:t>03</a:t>
            </a:r>
            <a:endParaRPr lang="en-US" sz="4400" dirty="0"/>
          </a:p>
        </p:txBody>
      </p:sp>
      <p:sp>
        <p:nvSpPr>
          <p:cNvPr id="6" name="Text 4"/>
          <p:cNvSpPr/>
          <p:nvPr/>
        </p:nvSpPr>
        <p:spPr>
          <a:xfrm>
            <a:off x="2011680" y="960120"/>
            <a:ext cx="9601200" cy="777240"/>
          </a:xfrm>
          <a:prstGeom prst="rect">
            <a:avLst/>
          </a:prstGeom>
          <a:noFill/>
          <a:ln/>
        </p:spPr>
        <p:txBody>
          <a:bodyPr wrap="square"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Weights</a:t>
            </a:r>
            <a:endParaRPr lang="en-US" sz="4000" dirty="0"/>
          </a:p>
        </p:txBody>
      </p:sp>
      <p:sp>
        <p:nvSpPr>
          <p:cNvPr id="7" name="Text 5"/>
          <p:cNvSpPr/>
          <p:nvPr/>
        </p:nvSpPr>
        <p:spPr>
          <a:xfrm>
            <a:off x="2011680" y="1755648"/>
            <a:ext cx="9601200" cy="411480"/>
          </a:xfrm>
          <a:prstGeom prst="rect">
            <a:avLst/>
          </a:prstGeom>
          <a:noFill/>
          <a:ln/>
        </p:spPr>
        <p:txBody>
          <a:bodyPr wrap="square"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The learned parameters that encode everything the network knows.</a:t>
            </a:r>
            <a:endParaRPr lang="en-US" sz="1400" dirty="0"/>
          </a:p>
        </p:txBody>
      </p:sp>
      <p:sp>
        <p:nvSpPr>
          <p:cNvPr id="8" name="Shape 6"/>
          <p:cNvSpPr/>
          <p:nvPr/>
        </p:nvSpPr>
        <p:spPr>
          <a:xfrm>
            <a:off x="548640" y="2423160"/>
            <a:ext cx="5486400" cy="3749040"/>
          </a:xfrm>
          <a:prstGeom prst="rect">
            <a:avLst/>
          </a:prstGeom>
          <a:solidFill>
            <a:srgbClr val="FFFFFF"/>
          </a:solidFill>
          <a:ln w="9525">
            <a:solidFill>
              <a:srgbClr val="D4D4CF"/>
            </a:solidFill>
            <a:prstDash val="solid"/>
          </a:ln>
        </p:spPr>
      </p:sp>
      <p:sp>
        <p:nvSpPr>
          <p:cNvPr id="9" name="Shape 7"/>
          <p:cNvSpPr/>
          <p:nvPr/>
        </p:nvSpPr>
        <p:spPr>
          <a:xfrm>
            <a:off x="548640" y="2423160"/>
            <a:ext cx="73152" cy="3749040"/>
          </a:xfrm>
          <a:prstGeom prst="rect">
            <a:avLst/>
          </a:prstGeom>
          <a:solidFill>
            <a:srgbClr val="7A1F2B"/>
          </a:solidFill>
          <a:ln/>
        </p:spPr>
      </p:sp>
      <p:sp>
        <p:nvSpPr>
          <p:cNvPr id="10" name="Text 8"/>
          <p:cNvSpPr/>
          <p:nvPr/>
        </p:nvSpPr>
        <p:spPr>
          <a:xfrm>
            <a:off x="822960" y="2606040"/>
            <a:ext cx="512064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DEFINITION</a:t>
            </a:r>
            <a:endParaRPr lang="en-US" sz="1000" dirty="0"/>
          </a:p>
        </p:txBody>
      </p:sp>
      <p:sp>
        <p:nvSpPr>
          <p:cNvPr id="11" name="Text 9"/>
          <p:cNvSpPr/>
          <p:nvPr/>
        </p:nvSpPr>
        <p:spPr>
          <a:xfrm>
            <a:off x="822960" y="2907792"/>
            <a:ext cx="5120640" cy="310896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A weight is a real-valued multiplier attached to each connection between two neurons. During training, weights start as small random numbers and are adjusted, batch by batch, in the direction that reduces the loss. A bias is a per-neuron offset that lets the activation function shift left or right.</a:t>
            </a:r>
            <a:endParaRPr lang="en-US" sz="1300" dirty="0"/>
          </a:p>
        </p:txBody>
      </p:sp>
      <p:sp>
        <p:nvSpPr>
          <p:cNvPr id="12" name="Shape 10"/>
          <p:cNvSpPr/>
          <p:nvPr/>
        </p:nvSpPr>
        <p:spPr>
          <a:xfrm>
            <a:off x="6309360" y="2423160"/>
            <a:ext cx="5303520" cy="3749040"/>
          </a:xfrm>
          <a:prstGeom prst="rect">
            <a:avLst/>
          </a:prstGeom>
          <a:solidFill>
            <a:srgbClr val="FFFFFF"/>
          </a:solidFill>
          <a:ln w="9525">
            <a:solidFill>
              <a:srgbClr val="D4D4CF"/>
            </a:solidFill>
            <a:prstDash val="solid"/>
          </a:ln>
        </p:spPr>
      </p:sp>
      <p:sp>
        <p:nvSpPr>
          <p:cNvPr id="13" name="Shape 11"/>
          <p:cNvSpPr/>
          <p:nvPr/>
        </p:nvSpPr>
        <p:spPr>
          <a:xfrm>
            <a:off x="6309360" y="2423160"/>
            <a:ext cx="73152" cy="3749040"/>
          </a:xfrm>
          <a:prstGeom prst="rect">
            <a:avLst/>
          </a:prstGeom>
          <a:solidFill>
            <a:srgbClr val="7A1F2B"/>
          </a:solidFill>
          <a:ln/>
        </p:spPr>
      </p:sp>
      <p:sp>
        <p:nvSpPr>
          <p:cNvPr id="14" name="Text 12"/>
          <p:cNvSpPr/>
          <p:nvPr/>
        </p:nvSpPr>
        <p:spPr>
          <a:xfrm>
            <a:off x="6583680" y="2606040"/>
            <a:ext cx="493776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ROLE IN THE NETWORK</a:t>
            </a:r>
            <a:endParaRPr lang="en-US" sz="1000" dirty="0"/>
          </a:p>
        </p:txBody>
      </p:sp>
      <p:sp>
        <p:nvSpPr>
          <p:cNvPr id="15" name="Text 13"/>
          <p:cNvSpPr/>
          <p:nvPr/>
        </p:nvSpPr>
        <p:spPr>
          <a:xfrm>
            <a:off x="6583680" y="2907792"/>
            <a:ext cx="4937760" cy="310896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Weights and biases are the only quantities the network actually learns; all knowledge a trained model has — every pattern it can recognize, every classification it can make — is stored in these numbers. A network with billions of weights, such as a large language model, is fundamentally an extremely high-dimensional table of learned numerical relationships.</a:t>
            </a:r>
            <a:endParaRPr lang="en-US" sz="1300" dirty="0"/>
          </a:p>
        </p:txBody>
      </p:sp>
      <p:sp>
        <p:nvSpPr>
          <p:cNvPr id="16" name="Shape 14"/>
          <p:cNvSpPr/>
          <p:nvPr/>
        </p:nvSpPr>
        <p:spPr>
          <a:xfrm>
            <a:off x="548640" y="6446520"/>
            <a:ext cx="11064240" cy="0"/>
          </a:xfrm>
          <a:prstGeom prst="line">
            <a:avLst/>
          </a:prstGeom>
          <a:noFill/>
          <a:ln w="6350">
            <a:solidFill>
              <a:srgbClr val="D4D4CF"/>
            </a:solidFill>
            <a:prstDash val="solid"/>
          </a:ln>
        </p:spPr>
      </p:sp>
      <p:sp>
        <p:nvSpPr>
          <p:cNvPr id="17" name="Text 15"/>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18" name="Text 16"/>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COMPONENT  04</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914400"/>
            <a:ext cx="1097280" cy="640080"/>
          </a:xfrm>
          <a:prstGeom prst="rect">
            <a:avLst/>
          </a:prstGeom>
          <a:noFill/>
          <a:ln/>
        </p:spPr>
        <p:txBody>
          <a:bodyPr wrap="square" rtlCol="0" anchor="ctr"/>
          <a:lstStyle/>
          <a:p>
            <a:pPr indent="0" marL="0">
              <a:buNone/>
            </a:pPr>
            <a:r>
              <a:rPr lang="en-US" sz="4400" i="1" dirty="0">
                <a:solidFill>
                  <a:srgbClr val="7A1F2B"/>
                </a:solidFill>
                <a:latin typeface="Cambria" pitchFamily="34" charset="0"/>
                <a:ea typeface="Cambria" pitchFamily="34" charset="-122"/>
                <a:cs typeface="Cambria" pitchFamily="34" charset="-120"/>
              </a:rPr>
              <a:t>04</a:t>
            </a:r>
            <a:endParaRPr lang="en-US" sz="4400" dirty="0"/>
          </a:p>
        </p:txBody>
      </p:sp>
      <p:sp>
        <p:nvSpPr>
          <p:cNvPr id="6" name="Text 4"/>
          <p:cNvSpPr/>
          <p:nvPr/>
        </p:nvSpPr>
        <p:spPr>
          <a:xfrm>
            <a:off x="2011680" y="960120"/>
            <a:ext cx="9601200" cy="777240"/>
          </a:xfrm>
          <a:prstGeom prst="rect">
            <a:avLst/>
          </a:prstGeom>
          <a:noFill/>
          <a:ln/>
        </p:spPr>
        <p:txBody>
          <a:bodyPr wrap="square"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Activation Functions</a:t>
            </a:r>
            <a:endParaRPr lang="en-US" sz="4000" dirty="0"/>
          </a:p>
        </p:txBody>
      </p:sp>
      <p:sp>
        <p:nvSpPr>
          <p:cNvPr id="7" name="Text 5"/>
          <p:cNvSpPr/>
          <p:nvPr/>
        </p:nvSpPr>
        <p:spPr>
          <a:xfrm>
            <a:off x="2011680" y="1755648"/>
            <a:ext cx="9601200" cy="411480"/>
          </a:xfrm>
          <a:prstGeom prst="rect">
            <a:avLst/>
          </a:prstGeom>
          <a:noFill/>
          <a:ln/>
        </p:spPr>
        <p:txBody>
          <a:bodyPr wrap="square"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Non-linear transformations that give the network expressive power.</a:t>
            </a:r>
            <a:endParaRPr lang="en-US" sz="1400" dirty="0"/>
          </a:p>
        </p:txBody>
      </p:sp>
      <p:sp>
        <p:nvSpPr>
          <p:cNvPr id="8" name="Shape 6"/>
          <p:cNvSpPr/>
          <p:nvPr/>
        </p:nvSpPr>
        <p:spPr>
          <a:xfrm>
            <a:off x="548640" y="2423160"/>
            <a:ext cx="5303520" cy="3749040"/>
          </a:xfrm>
          <a:prstGeom prst="rect">
            <a:avLst/>
          </a:prstGeom>
          <a:solidFill>
            <a:srgbClr val="FFFFFF"/>
          </a:solidFill>
          <a:ln w="9525">
            <a:solidFill>
              <a:srgbClr val="D4D4CF"/>
            </a:solidFill>
            <a:prstDash val="solid"/>
          </a:ln>
        </p:spPr>
      </p:sp>
      <p:sp>
        <p:nvSpPr>
          <p:cNvPr id="9" name="Shape 7"/>
          <p:cNvSpPr/>
          <p:nvPr/>
        </p:nvSpPr>
        <p:spPr>
          <a:xfrm>
            <a:off x="548640" y="2423160"/>
            <a:ext cx="73152" cy="3749040"/>
          </a:xfrm>
          <a:prstGeom prst="rect">
            <a:avLst/>
          </a:prstGeom>
          <a:solidFill>
            <a:srgbClr val="7A1F2B"/>
          </a:solidFill>
          <a:ln/>
        </p:spPr>
      </p:sp>
      <p:sp>
        <p:nvSpPr>
          <p:cNvPr id="10" name="Text 8"/>
          <p:cNvSpPr/>
          <p:nvPr/>
        </p:nvSpPr>
        <p:spPr>
          <a:xfrm>
            <a:off x="822960" y="2606040"/>
            <a:ext cx="493776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DEFINITION</a:t>
            </a:r>
            <a:endParaRPr lang="en-US" sz="1000" dirty="0"/>
          </a:p>
        </p:txBody>
      </p:sp>
      <p:sp>
        <p:nvSpPr>
          <p:cNvPr id="11" name="Text 9"/>
          <p:cNvSpPr/>
          <p:nvPr/>
        </p:nvSpPr>
        <p:spPr>
          <a:xfrm>
            <a:off x="822960" y="2907792"/>
            <a:ext cx="4937760" cy="3108960"/>
          </a:xfrm>
          <a:prstGeom prst="rect">
            <a:avLst/>
          </a:prstGeom>
          <a:noFill/>
          <a:ln/>
        </p:spPr>
        <p:txBody>
          <a:bodyPr wrap="square" rtlCol="0" anchor="t"/>
          <a:lstStyle/>
          <a:p>
            <a:pPr indent="0" marL="0">
              <a:spcAft>
                <a:spcPts val="600"/>
              </a:spcAft>
              <a:buNone/>
            </a:pPr>
            <a:r>
              <a:rPr lang="en-US" sz="1200" dirty="0">
                <a:solidFill>
                  <a:srgbClr val="1A1A1A"/>
                </a:solidFill>
                <a:latin typeface="Calibri" pitchFamily="34" charset="0"/>
                <a:ea typeface="Calibri" pitchFamily="34" charset="-122"/>
                <a:cs typeface="Calibri" pitchFamily="34" charset="-120"/>
              </a:rPr>
              <a:t>An activation function decides what value a neuron emits after it has computed its weighted sum. The choice of activation function determines whether the network can learn non-linear relationships — without one, even a deep network collapses into a single linear map (Google, 2025). Common choices include ReLU (the modern default in hidden layers), Sigmoid (probabilistic output), and Tanh (zero-centered range).</a:t>
            </a:r>
            <a:endParaRPr lang="en-US" sz="1200" dirty="0"/>
          </a:p>
        </p:txBody>
      </p:sp>
      <p:graphicFrame>
        <p:nvGraphicFramePr>
          <p:cNvPr id="12" name="Chart 0" descr=""/>
          <p:cNvGraphicFramePr/>
          <p:nvPr/>
        </p:nvGraphicFramePr>
        <p:xfrm>
          <a:off x="6126480" y="2423160"/>
          <a:ext cx="5486400" cy="374904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548640" y="6446520"/>
            <a:ext cx="11064240" cy="0"/>
          </a:xfrm>
          <a:prstGeom prst="line">
            <a:avLst/>
          </a:prstGeom>
          <a:noFill/>
          <a:ln w="6350">
            <a:solidFill>
              <a:srgbClr val="D4D4CF"/>
            </a:solidFill>
            <a:prstDash val="solid"/>
          </a:ln>
        </p:spPr>
      </p:sp>
      <p:sp>
        <p:nvSpPr>
          <p:cNvPr id="14" name="Text 11"/>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15" name="Text 12"/>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COMPONENT  05</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914400"/>
            <a:ext cx="1097280" cy="640080"/>
          </a:xfrm>
          <a:prstGeom prst="rect">
            <a:avLst/>
          </a:prstGeom>
          <a:noFill/>
          <a:ln/>
        </p:spPr>
        <p:txBody>
          <a:bodyPr wrap="square" rtlCol="0" anchor="ctr"/>
          <a:lstStyle/>
          <a:p>
            <a:pPr indent="0" marL="0">
              <a:buNone/>
            </a:pPr>
            <a:r>
              <a:rPr lang="en-US" sz="4400" i="1" dirty="0">
                <a:solidFill>
                  <a:srgbClr val="7A1F2B"/>
                </a:solidFill>
                <a:latin typeface="Cambria" pitchFamily="34" charset="0"/>
                <a:ea typeface="Cambria" pitchFamily="34" charset="-122"/>
                <a:cs typeface="Cambria" pitchFamily="34" charset="-120"/>
              </a:rPr>
              <a:t>05</a:t>
            </a:r>
            <a:endParaRPr lang="en-US" sz="4400" dirty="0"/>
          </a:p>
        </p:txBody>
      </p:sp>
      <p:sp>
        <p:nvSpPr>
          <p:cNvPr id="6" name="Text 4"/>
          <p:cNvSpPr/>
          <p:nvPr/>
        </p:nvSpPr>
        <p:spPr>
          <a:xfrm>
            <a:off x="2011680" y="960120"/>
            <a:ext cx="9601200" cy="777240"/>
          </a:xfrm>
          <a:prstGeom prst="rect">
            <a:avLst/>
          </a:prstGeom>
          <a:noFill/>
          <a:ln/>
        </p:spPr>
        <p:txBody>
          <a:bodyPr wrap="square"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Loss Functions</a:t>
            </a:r>
            <a:endParaRPr lang="en-US" sz="4000" dirty="0"/>
          </a:p>
        </p:txBody>
      </p:sp>
      <p:sp>
        <p:nvSpPr>
          <p:cNvPr id="7" name="Text 5"/>
          <p:cNvSpPr/>
          <p:nvPr/>
        </p:nvSpPr>
        <p:spPr>
          <a:xfrm>
            <a:off x="2011680" y="1755648"/>
            <a:ext cx="9601200" cy="411480"/>
          </a:xfrm>
          <a:prstGeom prst="rect">
            <a:avLst/>
          </a:prstGeom>
          <a:noFill/>
          <a:ln/>
        </p:spPr>
        <p:txBody>
          <a:bodyPr wrap="square"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The numeric signal the network is trying to drive down.</a:t>
            </a:r>
            <a:endParaRPr lang="en-US" sz="1400" dirty="0"/>
          </a:p>
        </p:txBody>
      </p:sp>
      <p:sp>
        <p:nvSpPr>
          <p:cNvPr id="8" name="Shape 6"/>
          <p:cNvSpPr/>
          <p:nvPr/>
        </p:nvSpPr>
        <p:spPr>
          <a:xfrm>
            <a:off x="548640" y="2423160"/>
            <a:ext cx="5303520" cy="3749040"/>
          </a:xfrm>
          <a:prstGeom prst="rect">
            <a:avLst/>
          </a:prstGeom>
          <a:solidFill>
            <a:srgbClr val="FFFFFF"/>
          </a:solidFill>
          <a:ln w="9525">
            <a:solidFill>
              <a:srgbClr val="D4D4CF"/>
            </a:solidFill>
            <a:prstDash val="solid"/>
          </a:ln>
        </p:spPr>
      </p:sp>
      <p:sp>
        <p:nvSpPr>
          <p:cNvPr id="9" name="Shape 7"/>
          <p:cNvSpPr/>
          <p:nvPr/>
        </p:nvSpPr>
        <p:spPr>
          <a:xfrm>
            <a:off x="548640" y="2423160"/>
            <a:ext cx="73152" cy="3749040"/>
          </a:xfrm>
          <a:prstGeom prst="rect">
            <a:avLst/>
          </a:prstGeom>
          <a:solidFill>
            <a:srgbClr val="7A1F2B"/>
          </a:solidFill>
          <a:ln/>
        </p:spPr>
      </p:sp>
      <p:sp>
        <p:nvSpPr>
          <p:cNvPr id="10" name="Text 8"/>
          <p:cNvSpPr/>
          <p:nvPr/>
        </p:nvSpPr>
        <p:spPr>
          <a:xfrm>
            <a:off x="822960" y="2606040"/>
            <a:ext cx="493776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DEFINITION</a:t>
            </a:r>
            <a:endParaRPr lang="en-US" sz="1000" dirty="0"/>
          </a:p>
        </p:txBody>
      </p:sp>
      <p:sp>
        <p:nvSpPr>
          <p:cNvPr id="11" name="Text 9"/>
          <p:cNvSpPr/>
          <p:nvPr/>
        </p:nvSpPr>
        <p:spPr>
          <a:xfrm>
            <a:off x="822960" y="2907792"/>
            <a:ext cx="4937760" cy="3108960"/>
          </a:xfrm>
          <a:prstGeom prst="rect">
            <a:avLst/>
          </a:prstGeom>
          <a:noFill/>
          <a:ln/>
        </p:spPr>
        <p:txBody>
          <a:bodyPr wrap="square" rtlCol="0" anchor="t"/>
          <a:lstStyle/>
          <a:p>
            <a:pPr indent="0" marL="0">
              <a:spcAft>
                <a:spcPts val="600"/>
              </a:spcAft>
              <a:buNone/>
            </a:pPr>
            <a:r>
              <a:rPr lang="en-US" sz="1200" dirty="0">
                <a:solidFill>
                  <a:srgbClr val="1A1A1A"/>
                </a:solidFill>
                <a:latin typeface="Calibri" pitchFamily="34" charset="0"/>
                <a:ea typeface="Calibri" pitchFamily="34" charset="-122"/>
                <a:cs typeface="Calibri" pitchFamily="34" charset="-120"/>
              </a:rPr>
              <a:t>A loss function (also called a cost function) measures how wrong the network's predictions are on the current training data. For regression problems, Mean Squared Error is the canonical choice; for classification, Cross-Entropy is standard. The loss is a single scalar number — the lower, the better — and the entire training process exists to push it downward over many iterations (Google, 2025).</a:t>
            </a:r>
            <a:endParaRPr lang="en-US" sz="1200" dirty="0"/>
          </a:p>
        </p:txBody>
      </p:sp>
      <p:graphicFrame>
        <p:nvGraphicFramePr>
          <p:cNvPr id="12" name="Chart 0" descr=""/>
          <p:cNvGraphicFramePr/>
          <p:nvPr/>
        </p:nvGraphicFramePr>
        <p:xfrm>
          <a:off x="6126480" y="2423160"/>
          <a:ext cx="5486400" cy="374904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548640" y="6446520"/>
            <a:ext cx="11064240" cy="0"/>
          </a:xfrm>
          <a:prstGeom prst="line">
            <a:avLst/>
          </a:prstGeom>
          <a:noFill/>
          <a:ln w="6350">
            <a:solidFill>
              <a:srgbClr val="D4D4CF"/>
            </a:solidFill>
            <a:prstDash val="solid"/>
          </a:ln>
        </p:spPr>
      </p:sp>
      <p:sp>
        <p:nvSpPr>
          <p:cNvPr id="14" name="Text 11"/>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15" name="Text 12"/>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COMPONENT  06</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914400"/>
            <a:ext cx="1097280" cy="640080"/>
          </a:xfrm>
          <a:prstGeom prst="rect">
            <a:avLst/>
          </a:prstGeom>
          <a:noFill/>
          <a:ln/>
        </p:spPr>
        <p:txBody>
          <a:bodyPr wrap="square" rtlCol="0" anchor="ctr"/>
          <a:lstStyle/>
          <a:p>
            <a:pPr indent="0" marL="0">
              <a:buNone/>
            </a:pPr>
            <a:r>
              <a:rPr lang="en-US" sz="4400" i="1" dirty="0">
                <a:solidFill>
                  <a:srgbClr val="7A1F2B"/>
                </a:solidFill>
                <a:latin typeface="Cambria" pitchFamily="34" charset="0"/>
                <a:ea typeface="Cambria" pitchFamily="34" charset="-122"/>
                <a:cs typeface="Cambria" pitchFamily="34" charset="-120"/>
              </a:rPr>
              <a:t>06</a:t>
            </a:r>
            <a:endParaRPr lang="en-US" sz="4400" dirty="0"/>
          </a:p>
        </p:txBody>
      </p:sp>
      <p:sp>
        <p:nvSpPr>
          <p:cNvPr id="6" name="Text 4"/>
          <p:cNvSpPr/>
          <p:nvPr/>
        </p:nvSpPr>
        <p:spPr>
          <a:xfrm>
            <a:off x="2011680" y="960120"/>
            <a:ext cx="9601200" cy="777240"/>
          </a:xfrm>
          <a:prstGeom prst="rect">
            <a:avLst/>
          </a:prstGeom>
          <a:noFill/>
          <a:ln/>
        </p:spPr>
        <p:txBody>
          <a:bodyPr wrap="square"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Optimization Algorithms</a:t>
            </a:r>
            <a:endParaRPr lang="en-US" sz="4000" dirty="0"/>
          </a:p>
        </p:txBody>
      </p:sp>
      <p:sp>
        <p:nvSpPr>
          <p:cNvPr id="7" name="Text 5"/>
          <p:cNvSpPr/>
          <p:nvPr/>
        </p:nvSpPr>
        <p:spPr>
          <a:xfrm>
            <a:off x="2011680" y="1755648"/>
            <a:ext cx="9601200" cy="411480"/>
          </a:xfrm>
          <a:prstGeom prst="rect">
            <a:avLst/>
          </a:prstGeom>
          <a:noFill/>
          <a:ln/>
        </p:spPr>
        <p:txBody>
          <a:bodyPr wrap="square"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The procedure that actually adjusts the weights to reduce the loss.</a:t>
            </a:r>
            <a:endParaRPr lang="en-US" sz="1400" dirty="0"/>
          </a:p>
        </p:txBody>
      </p:sp>
      <p:sp>
        <p:nvSpPr>
          <p:cNvPr id="8" name="Shape 6"/>
          <p:cNvSpPr/>
          <p:nvPr/>
        </p:nvSpPr>
        <p:spPr>
          <a:xfrm>
            <a:off x="548640" y="2423160"/>
            <a:ext cx="5303520" cy="3749040"/>
          </a:xfrm>
          <a:prstGeom prst="rect">
            <a:avLst/>
          </a:prstGeom>
          <a:solidFill>
            <a:srgbClr val="FFFFFF"/>
          </a:solidFill>
          <a:ln w="9525">
            <a:solidFill>
              <a:srgbClr val="D4D4CF"/>
            </a:solidFill>
            <a:prstDash val="solid"/>
          </a:ln>
        </p:spPr>
      </p:sp>
      <p:sp>
        <p:nvSpPr>
          <p:cNvPr id="9" name="Shape 7"/>
          <p:cNvSpPr/>
          <p:nvPr/>
        </p:nvSpPr>
        <p:spPr>
          <a:xfrm>
            <a:off x="548640" y="2423160"/>
            <a:ext cx="73152" cy="3749040"/>
          </a:xfrm>
          <a:prstGeom prst="rect">
            <a:avLst/>
          </a:prstGeom>
          <a:solidFill>
            <a:srgbClr val="7A1F2B"/>
          </a:solidFill>
          <a:ln/>
        </p:spPr>
      </p:sp>
      <p:sp>
        <p:nvSpPr>
          <p:cNvPr id="10" name="Text 8"/>
          <p:cNvSpPr/>
          <p:nvPr/>
        </p:nvSpPr>
        <p:spPr>
          <a:xfrm>
            <a:off x="822960" y="2606040"/>
            <a:ext cx="493776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DEFINITION</a:t>
            </a:r>
            <a:endParaRPr lang="en-US" sz="1000" dirty="0"/>
          </a:p>
        </p:txBody>
      </p:sp>
      <p:sp>
        <p:nvSpPr>
          <p:cNvPr id="11" name="Text 9"/>
          <p:cNvSpPr/>
          <p:nvPr/>
        </p:nvSpPr>
        <p:spPr>
          <a:xfrm>
            <a:off x="822960" y="2907792"/>
            <a:ext cx="4937760" cy="3108960"/>
          </a:xfrm>
          <a:prstGeom prst="rect">
            <a:avLst/>
          </a:prstGeom>
          <a:noFill/>
          <a:ln/>
        </p:spPr>
        <p:txBody>
          <a:bodyPr wrap="square" rtlCol="0" anchor="t"/>
          <a:lstStyle/>
          <a:p>
            <a:pPr indent="0" marL="0">
              <a:spcAft>
                <a:spcPts val="600"/>
              </a:spcAft>
              <a:buNone/>
            </a:pPr>
            <a:r>
              <a:rPr lang="en-US" sz="1200" dirty="0">
                <a:solidFill>
                  <a:srgbClr val="1A1A1A"/>
                </a:solidFill>
                <a:latin typeface="Calibri" pitchFamily="34" charset="0"/>
                <a:ea typeface="Calibri" pitchFamily="34" charset="-122"/>
                <a:cs typeface="Calibri" pitchFamily="34" charset="-120"/>
              </a:rPr>
              <a:t>An optimization algorithm uses the gradient of the loss with respect to each weight (computed by backpropagation) to update the weights, step by step, in the direction that reduces the loss. Stochastic Gradient Descent is the foundational method; Adam, RMSProp, and AdaGrad are widely used adaptive variants that adjust each weight's step size based on its historical gradient signal (IBM, n.d.).</a:t>
            </a:r>
            <a:endParaRPr lang="en-US" sz="1200" dirty="0"/>
          </a:p>
        </p:txBody>
      </p:sp>
      <p:sp>
        <p:nvSpPr>
          <p:cNvPr id="12" name="Shape 10"/>
          <p:cNvSpPr/>
          <p:nvPr/>
        </p:nvSpPr>
        <p:spPr>
          <a:xfrm>
            <a:off x="6126480" y="2423160"/>
            <a:ext cx="5486400" cy="3749040"/>
          </a:xfrm>
          <a:prstGeom prst="rect">
            <a:avLst/>
          </a:prstGeom>
          <a:solidFill>
            <a:srgbClr val="FFFFFF"/>
          </a:solidFill>
          <a:ln w="9525">
            <a:solidFill>
              <a:srgbClr val="D4D4CF"/>
            </a:solidFill>
            <a:prstDash val="solid"/>
          </a:ln>
        </p:spPr>
      </p:sp>
      <p:sp>
        <p:nvSpPr>
          <p:cNvPr id="13" name="Text 11"/>
          <p:cNvSpPr/>
          <p:nvPr/>
        </p:nvSpPr>
        <p:spPr>
          <a:xfrm>
            <a:off x="6263640" y="2542032"/>
            <a:ext cx="5212080" cy="274320"/>
          </a:xfrm>
          <a:prstGeom prst="rect">
            <a:avLst/>
          </a:prstGeom>
          <a:noFill/>
          <a:ln/>
        </p:spPr>
        <p:txBody>
          <a:bodyPr wrap="square"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Gradient Descent — Stepping Down the Loss Surface</a:t>
            </a:r>
            <a:endParaRPr lang="en-US" sz="1200" dirty="0"/>
          </a:p>
        </p:txBody>
      </p:sp>
      <p:graphicFrame>
        <p:nvGraphicFramePr>
          <p:cNvPr id="14" name="Chart 0" descr=""/>
          <p:cNvGraphicFramePr/>
          <p:nvPr/>
        </p:nvGraphicFramePr>
        <p:xfrm>
          <a:off x="6263640" y="283464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548640" y="6446520"/>
            <a:ext cx="11064240" cy="0"/>
          </a:xfrm>
          <a:prstGeom prst="line">
            <a:avLst/>
          </a:prstGeom>
          <a:noFill/>
          <a:ln w="6350">
            <a:solidFill>
              <a:srgbClr val="D4D4CF"/>
            </a:solidFill>
            <a:prstDash val="solid"/>
          </a:ln>
        </p:spPr>
      </p:sp>
      <p:sp>
        <p:nvSpPr>
          <p:cNvPr id="16" name="Text 13"/>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17" name="Text 14"/>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FROM THEORY TO PRACTICE</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868680"/>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Lessons from the TensorFlow Playground</a:t>
            </a:r>
            <a:endParaRPr lang="en-US" sz="3000" dirty="0"/>
          </a:p>
        </p:txBody>
      </p:sp>
      <p:sp>
        <p:nvSpPr>
          <p:cNvPr id="6" name="Text 4"/>
          <p:cNvSpPr/>
          <p:nvPr/>
        </p:nvSpPr>
        <p:spPr>
          <a:xfrm>
            <a:off x="548640" y="1463040"/>
            <a:ext cx="10972800" cy="36576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Three observations from training networks on the spiral, circle, and Gaussian datasets at playground.tensorflow.org</a:t>
            </a:r>
            <a:endParaRPr lang="en-US" sz="1200" dirty="0"/>
          </a:p>
        </p:txBody>
      </p:sp>
      <p:sp>
        <p:nvSpPr>
          <p:cNvPr id="7" name="Shape 5"/>
          <p:cNvSpPr/>
          <p:nvPr/>
        </p:nvSpPr>
        <p:spPr>
          <a:xfrm>
            <a:off x="548640" y="2057400"/>
            <a:ext cx="3538728" cy="4160520"/>
          </a:xfrm>
          <a:prstGeom prst="rect">
            <a:avLst/>
          </a:prstGeom>
          <a:solidFill>
            <a:srgbClr val="FFFFFF"/>
          </a:solidFill>
          <a:ln w="9525">
            <a:solidFill>
              <a:srgbClr val="D4D4CF"/>
            </a:solidFill>
            <a:prstDash val="solid"/>
          </a:ln>
        </p:spPr>
      </p:sp>
      <p:sp>
        <p:nvSpPr>
          <p:cNvPr id="8" name="Shape 6"/>
          <p:cNvSpPr/>
          <p:nvPr/>
        </p:nvSpPr>
        <p:spPr>
          <a:xfrm>
            <a:off x="548640" y="2057400"/>
            <a:ext cx="3538728" cy="73152"/>
          </a:xfrm>
          <a:prstGeom prst="rect">
            <a:avLst/>
          </a:prstGeom>
          <a:solidFill>
            <a:srgbClr val="7A1F2B"/>
          </a:solidFill>
          <a:ln/>
        </p:spPr>
      </p:sp>
      <p:sp>
        <p:nvSpPr>
          <p:cNvPr id="9" name="Text 7"/>
          <p:cNvSpPr/>
          <p:nvPr/>
        </p:nvSpPr>
        <p:spPr>
          <a:xfrm>
            <a:off x="822960" y="2286000"/>
            <a:ext cx="1371600" cy="548640"/>
          </a:xfrm>
          <a:prstGeom prst="rect">
            <a:avLst/>
          </a:prstGeom>
          <a:noFill/>
          <a:ln/>
        </p:spPr>
        <p:txBody>
          <a:bodyPr wrap="square" rtlCol="0" anchor="ctr"/>
          <a:lstStyle/>
          <a:p>
            <a:pPr indent="0" marL="0">
              <a:buNone/>
            </a:pPr>
            <a:r>
              <a:rPr lang="en-US" sz="3400" i="1" dirty="0">
                <a:solidFill>
                  <a:srgbClr val="7A1F2B"/>
                </a:solidFill>
                <a:latin typeface="Cambria" pitchFamily="34" charset="0"/>
                <a:ea typeface="Cambria" pitchFamily="34" charset="-122"/>
                <a:cs typeface="Cambria" pitchFamily="34" charset="-120"/>
              </a:rPr>
              <a:t>01</a:t>
            </a:r>
            <a:endParaRPr lang="en-US" sz="3400" dirty="0"/>
          </a:p>
        </p:txBody>
      </p:sp>
      <p:sp>
        <p:nvSpPr>
          <p:cNvPr id="10" name="Text 8"/>
          <p:cNvSpPr/>
          <p:nvPr/>
        </p:nvSpPr>
        <p:spPr>
          <a:xfrm>
            <a:off x="822960" y="2971800"/>
            <a:ext cx="3108960" cy="777240"/>
          </a:xfrm>
          <a:prstGeom prst="rect">
            <a:avLst/>
          </a:prstGeom>
          <a:noFill/>
          <a:ln/>
        </p:spPr>
        <p:txBody>
          <a:bodyPr wrap="square"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Depth changes what is learnable</a:t>
            </a:r>
            <a:endParaRPr lang="en-US" sz="1700" dirty="0"/>
          </a:p>
        </p:txBody>
      </p:sp>
      <p:sp>
        <p:nvSpPr>
          <p:cNvPr id="11" name="Shape 9"/>
          <p:cNvSpPr/>
          <p:nvPr/>
        </p:nvSpPr>
        <p:spPr>
          <a:xfrm>
            <a:off x="822960" y="3840480"/>
            <a:ext cx="548640" cy="0"/>
          </a:xfrm>
          <a:prstGeom prst="line">
            <a:avLst/>
          </a:prstGeom>
          <a:noFill/>
          <a:ln w="15875">
            <a:solidFill>
              <a:srgbClr val="7A1F2B"/>
            </a:solidFill>
            <a:prstDash val="solid"/>
          </a:ln>
        </p:spPr>
      </p:sp>
      <p:sp>
        <p:nvSpPr>
          <p:cNvPr id="12" name="Text 10"/>
          <p:cNvSpPr/>
          <p:nvPr/>
        </p:nvSpPr>
        <p:spPr>
          <a:xfrm>
            <a:off x="822960" y="3977640"/>
            <a:ext cx="3108960" cy="2103120"/>
          </a:xfrm>
          <a:prstGeom prst="rect">
            <a:avLst/>
          </a:prstGeom>
          <a:noFill/>
          <a:ln/>
        </p:spPr>
        <p:txBody>
          <a:bodyPr wrap="square" rtlCol="0" anchor="t"/>
          <a:lstStyle/>
          <a:p>
            <a:pPr indent="0" marL="0">
              <a:spcAft>
                <a:spcPts val="400"/>
              </a:spcAft>
              <a:buNone/>
            </a:pPr>
            <a:r>
              <a:rPr lang="en-US" sz="1100" dirty="0">
                <a:solidFill>
                  <a:srgbClr val="5A5A5A"/>
                </a:solidFill>
                <a:latin typeface="Calibri" pitchFamily="34" charset="0"/>
                <a:ea typeface="Calibri" pitchFamily="34" charset="-122"/>
                <a:cs typeface="Calibri" pitchFamily="34" charset="-120"/>
              </a:rPr>
              <a:t>A linear model collapsed immediately on the spiral dataset. Adding two hidden layers of four neurons each let the network discover the spiral boundary in under fifty epochs — a tangible demonstration of why hidden layers matter (Google, 2025).</a:t>
            </a:r>
            <a:endParaRPr lang="en-US" sz="1100" dirty="0"/>
          </a:p>
        </p:txBody>
      </p:sp>
      <p:sp>
        <p:nvSpPr>
          <p:cNvPr id="13" name="Shape 11"/>
          <p:cNvSpPr/>
          <p:nvPr/>
        </p:nvSpPr>
        <p:spPr>
          <a:xfrm>
            <a:off x="4270248" y="2057400"/>
            <a:ext cx="3538728" cy="4160520"/>
          </a:xfrm>
          <a:prstGeom prst="rect">
            <a:avLst/>
          </a:prstGeom>
          <a:solidFill>
            <a:srgbClr val="FFFFFF"/>
          </a:solidFill>
          <a:ln w="9525">
            <a:solidFill>
              <a:srgbClr val="D4D4CF"/>
            </a:solidFill>
            <a:prstDash val="solid"/>
          </a:ln>
        </p:spPr>
      </p:sp>
      <p:sp>
        <p:nvSpPr>
          <p:cNvPr id="14" name="Shape 12"/>
          <p:cNvSpPr/>
          <p:nvPr/>
        </p:nvSpPr>
        <p:spPr>
          <a:xfrm>
            <a:off x="4270248" y="2057400"/>
            <a:ext cx="3538728" cy="73152"/>
          </a:xfrm>
          <a:prstGeom prst="rect">
            <a:avLst/>
          </a:prstGeom>
          <a:solidFill>
            <a:srgbClr val="7A1F2B"/>
          </a:solidFill>
          <a:ln/>
        </p:spPr>
      </p:sp>
      <p:sp>
        <p:nvSpPr>
          <p:cNvPr id="15" name="Text 13"/>
          <p:cNvSpPr/>
          <p:nvPr/>
        </p:nvSpPr>
        <p:spPr>
          <a:xfrm>
            <a:off x="4544568" y="2286000"/>
            <a:ext cx="1371600" cy="548640"/>
          </a:xfrm>
          <a:prstGeom prst="rect">
            <a:avLst/>
          </a:prstGeom>
          <a:noFill/>
          <a:ln/>
        </p:spPr>
        <p:txBody>
          <a:bodyPr wrap="square" rtlCol="0" anchor="ctr"/>
          <a:lstStyle/>
          <a:p>
            <a:pPr indent="0" marL="0">
              <a:buNone/>
            </a:pPr>
            <a:r>
              <a:rPr lang="en-US" sz="3400" i="1" dirty="0">
                <a:solidFill>
                  <a:srgbClr val="7A1F2B"/>
                </a:solidFill>
                <a:latin typeface="Cambria" pitchFamily="34" charset="0"/>
                <a:ea typeface="Cambria" pitchFamily="34" charset="-122"/>
                <a:cs typeface="Cambria" pitchFamily="34" charset="-120"/>
              </a:rPr>
              <a:t>02</a:t>
            </a:r>
            <a:endParaRPr lang="en-US" sz="3400" dirty="0"/>
          </a:p>
        </p:txBody>
      </p:sp>
      <p:sp>
        <p:nvSpPr>
          <p:cNvPr id="16" name="Text 14"/>
          <p:cNvSpPr/>
          <p:nvPr/>
        </p:nvSpPr>
        <p:spPr>
          <a:xfrm>
            <a:off x="4544568" y="2971800"/>
            <a:ext cx="3108960" cy="777240"/>
          </a:xfrm>
          <a:prstGeom prst="rect">
            <a:avLst/>
          </a:prstGeom>
          <a:noFill/>
          <a:ln/>
        </p:spPr>
        <p:txBody>
          <a:bodyPr wrap="square"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Activation choice matters</a:t>
            </a:r>
            <a:endParaRPr lang="en-US" sz="1700" dirty="0"/>
          </a:p>
        </p:txBody>
      </p:sp>
      <p:sp>
        <p:nvSpPr>
          <p:cNvPr id="17" name="Shape 15"/>
          <p:cNvSpPr/>
          <p:nvPr/>
        </p:nvSpPr>
        <p:spPr>
          <a:xfrm>
            <a:off x="4544568" y="3840480"/>
            <a:ext cx="548640" cy="0"/>
          </a:xfrm>
          <a:prstGeom prst="line">
            <a:avLst/>
          </a:prstGeom>
          <a:noFill/>
          <a:ln w="15875">
            <a:solidFill>
              <a:srgbClr val="7A1F2B"/>
            </a:solidFill>
            <a:prstDash val="solid"/>
          </a:ln>
        </p:spPr>
      </p:sp>
      <p:sp>
        <p:nvSpPr>
          <p:cNvPr id="18" name="Text 16"/>
          <p:cNvSpPr/>
          <p:nvPr/>
        </p:nvSpPr>
        <p:spPr>
          <a:xfrm>
            <a:off x="4544568" y="3977640"/>
            <a:ext cx="3108960" cy="2103120"/>
          </a:xfrm>
          <a:prstGeom prst="rect">
            <a:avLst/>
          </a:prstGeom>
          <a:noFill/>
          <a:ln/>
        </p:spPr>
        <p:txBody>
          <a:bodyPr wrap="square" rtlCol="0" anchor="t"/>
          <a:lstStyle/>
          <a:p>
            <a:pPr indent="0" marL="0">
              <a:spcAft>
                <a:spcPts val="400"/>
              </a:spcAft>
              <a:buNone/>
            </a:pPr>
            <a:r>
              <a:rPr lang="en-US" sz="1100" dirty="0">
                <a:solidFill>
                  <a:srgbClr val="5A5A5A"/>
                </a:solidFill>
                <a:latin typeface="Calibri" pitchFamily="34" charset="0"/>
                <a:ea typeface="Calibri" pitchFamily="34" charset="-122"/>
                <a:cs typeface="Calibri" pitchFamily="34" charset="-120"/>
              </a:rPr>
              <a:t>Switching the hidden activation from Tanh to ReLU produced visibly different decision boundaries on the same data. ReLU converged faster on most datasets; Tanh gave smoother boundaries on the circular one.</a:t>
            </a:r>
            <a:endParaRPr lang="en-US" sz="1100" dirty="0"/>
          </a:p>
        </p:txBody>
      </p:sp>
      <p:sp>
        <p:nvSpPr>
          <p:cNvPr id="19" name="Shape 17"/>
          <p:cNvSpPr/>
          <p:nvPr/>
        </p:nvSpPr>
        <p:spPr>
          <a:xfrm>
            <a:off x="7991856" y="2057400"/>
            <a:ext cx="3538728" cy="4160520"/>
          </a:xfrm>
          <a:prstGeom prst="rect">
            <a:avLst/>
          </a:prstGeom>
          <a:solidFill>
            <a:srgbClr val="FFFFFF"/>
          </a:solidFill>
          <a:ln w="9525">
            <a:solidFill>
              <a:srgbClr val="D4D4CF"/>
            </a:solidFill>
            <a:prstDash val="solid"/>
          </a:ln>
        </p:spPr>
      </p:sp>
      <p:sp>
        <p:nvSpPr>
          <p:cNvPr id="20" name="Shape 18"/>
          <p:cNvSpPr/>
          <p:nvPr/>
        </p:nvSpPr>
        <p:spPr>
          <a:xfrm>
            <a:off x="7991856" y="2057400"/>
            <a:ext cx="3538728" cy="73152"/>
          </a:xfrm>
          <a:prstGeom prst="rect">
            <a:avLst/>
          </a:prstGeom>
          <a:solidFill>
            <a:srgbClr val="7A1F2B"/>
          </a:solidFill>
          <a:ln/>
        </p:spPr>
      </p:sp>
      <p:sp>
        <p:nvSpPr>
          <p:cNvPr id="21" name="Text 19"/>
          <p:cNvSpPr/>
          <p:nvPr/>
        </p:nvSpPr>
        <p:spPr>
          <a:xfrm>
            <a:off x="8266176" y="2286000"/>
            <a:ext cx="1371600" cy="548640"/>
          </a:xfrm>
          <a:prstGeom prst="rect">
            <a:avLst/>
          </a:prstGeom>
          <a:noFill/>
          <a:ln/>
        </p:spPr>
        <p:txBody>
          <a:bodyPr wrap="square" rtlCol="0" anchor="ctr"/>
          <a:lstStyle/>
          <a:p>
            <a:pPr indent="0" marL="0">
              <a:buNone/>
            </a:pPr>
            <a:r>
              <a:rPr lang="en-US" sz="3400" i="1" dirty="0">
                <a:solidFill>
                  <a:srgbClr val="7A1F2B"/>
                </a:solidFill>
                <a:latin typeface="Cambria" pitchFamily="34" charset="0"/>
                <a:ea typeface="Cambria" pitchFamily="34" charset="-122"/>
                <a:cs typeface="Cambria" pitchFamily="34" charset="-120"/>
              </a:rPr>
              <a:t>03</a:t>
            </a:r>
            <a:endParaRPr lang="en-US" sz="3400" dirty="0"/>
          </a:p>
        </p:txBody>
      </p:sp>
      <p:sp>
        <p:nvSpPr>
          <p:cNvPr id="22" name="Text 20"/>
          <p:cNvSpPr/>
          <p:nvPr/>
        </p:nvSpPr>
        <p:spPr>
          <a:xfrm>
            <a:off x="8266176" y="2971800"/>
            <a:ext cx="3108960" cy="777240"/>
          </a:xfrm>
          <a:prstGeom prst="rect">
            <a:avLst/>
          </a:prstGeom>
          <a:noFill/>
          <a:ln/>
        </p:spPr>
        <p:txBody>
          <a:bodyPr wrap="square"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Regularization is real</a:t>
            </a:r>
            <a:endParaRPr lang="en-US" sz="1700" dirty="0"/>
          </a:p>
        </p:txBody>
      </p:sp>
      <p:sp>
        <p:nvSpPr>
          <p:cNvPr id="23" name="Shape 21"/>
          <p:cNvSpPr/>
          <p:nvPr/>
        </p:nvSpPr>
        <p:spPr>
          <a:xfrm>
            <a:off x="8266176" y="3840480"/>
            <a:ext cx="548640" cy="0"/>
          </a:xfrm>
          <a:prstGeom prst="line">
            <a:avLst/>
          </a:prstGeom>
          <a:noFill/>
          <a:ln w="15875">
            <a:solidFill>
              <a:srgbClr val="7A1F2B"/>
            </a:solidFill>
            <a:prstDash val="solid"/>
          </a:ln>
        </p:spPr>
      </p:sp>
      <p:sp>
        <p:nvSpPr>
          <p:cNvPr id="24" name="Text 22"/>
          <p:cNvSpPr/>
          <p:nvPr/>
        </p:nvSpPr>
        <p:spPr>
          <a:xfrm>
            <a:off x="8266176" y="3977640"/>
            <a:ext cx="3108960" cy="2103120"/>
          </a:xfrm>
          <a:prstGeom prst="rect">
            <a:avLst/>
          </a:prstGeom>
          <a:noFill/>
          <a:ln/>
        </p:spPr>
        <p:txBody>
          <a:bodyPr wrap="square" rtlCol="0" anchor="t"/>
          <a:lstStyle/>
          <a:p>
            <a:pPr indent="0" marL="0">
              <a:spcAft>
                <a:spcPts val="400"/>
              </a:spcAft>
              <a:buNone/>
            </a:pPr>
            <a:r>
              <a:rPr lang="en-US" sz="1100" dirty="0">
                <a:solidFill>
                  <a:srgbClr val="5A5A5A"/>
                </a:solidFill>
                <a:latin typeface="Calibri" pitchFamily="34" charset="0"/>
                <a:ea typeface="Calibri" pitchFamily="34" charset="-122"/>
                <a:cs typeface="Calibri" pitchFamily="34" charset="-120"/>
              </a:rPr>
              <a:t>Adding L2 regularization with even a low rate visibly simplified the decision surface on noisy data and reduced overfitting — a vivid reminder that the optimizer alone is not enough to control model capacity.</a:t>
            </a:r>
            <a:endParaRPr lang="en-US" sz="1100" dirty="0"/>
          </a:p>
        </p:txBody>
      </p:sp>
      <p:sp>
        <p:nvSpPr>
          <p:cNvPr id="25" name="Shape 23"/>
          <p:cNvSpPr/>
          <p:nvPr/>
        </p:nvSpPr>
        <p:spPr>
          <a:xfrm>
            <a:off x="548640" y="6446520"/>
            <a:ext cx="11064240" cy="0"/>
          </a:xfrm>
          <a:prstGeom prst="line">
            <a:avLst/>
          </a:prstGeom>
          <a:noFill/>
          <a:ln w="6350">
            <a:solidFill>
              <a:srgbClr val="D4D4CF"/>
            </a:solidFill>
            <a:prstDash val="solid"/>
          </a:ln>
        </p:spPr>
      </p:sp>
      <p:sp>
        <p:nvSpPr>
          <p:cNvPr id="26" name="Text 24"/>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27" name="Text 25"/>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AN APPLIED LENS</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868680"/>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Why This Matters in Cybersecurity Practice</a:t>
            </a:r>
            <a:endParaRPr lang="en-US" sz="3000" dirty="0"/>
          </a:p>
        </p:txBody>
      </p:sp>
      <p:sp>
        <p:nvSpPr>
          <p:cNvPr id="6" name="Text 4"/>
          <p:cNvSpPr/>
          <p:nvPr/>
        </p:nvSpPr>
        <p:spPr>
          <a:xfrm>
            <a:off x="548640" y="1463040"/>
            <a:ext cx="10972800" cy="36576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Where the components meet adversarial robustness, model security, and AI red teaming.</a:t>
            </a:r>
            <a:endParaRPr lang="en-US" sz="1200" dirty="0"/>
          </a:p>
        </p:txBody>
      </p:sp>
      <p:sp>
        <p:nvSpPr>
          <p:cNvPr id="7" name="Text 5"/>
          <p:cNvSpPr/>
          <p:nvPr/>
        </p:nvSpPr>
        <p:spPr>
          <a:xfrm>
            <a:off x="548640" y="2103120"/>
            <a:ext cx="502920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PRINCIPLE</a:t>
            </a:r>
            <a:endParaRPr lang="en-US" sz="1000" dirty="0"/>
          </a:p>
        </p:txBody>
      </p:sp>
      <p:sp>
        <p:nvSpPr>
          <p:cNvPr id="8" name="Text 6"/>
          <p:cNvSpPr/>
          <p:nvPr/>
        </p:nvSpPr>
        <p:spPr>
          <a:xfrm>
            <a:off x="6035040" y="2103120"/>
            <a:ext cx="5577840" cy="274320"/>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SECURITY IMPLICATION</a:t>
            </a:r>
            <a:endParaRPr lang="en-US" sz="1000" dirty="0"/>
          </a:p>
        </p:txBody>
      </p:sp>
      <p:sp>
        <p:nvSpPr>
          <p:cNvPr id="9" name="Shape 7"/>
          <p:cNvSpPr/>
          <p:nvPr/>
        </p:nvSpPr>
        <p:spPr>
          <a:xfrm>
            <a:off x="548640" y="2423160"/>
            <a:ext cx="11064240" cy="0"/>
          </a:xfrm>
          <a:prstGeom prst="line">
            <a:avLst/>
          </a:prstGeom>
          <a:noFill/>
          <a:ln w="12700">
            <a:solidFill>
              <a:srgbClr val="7A1F2B"/>
            </a:solidFill>
            <a:prstDash val="solid"/>
          </a:ln>
        </p:spPr>
      </p:sp>
      <p:sp>
        <p:nvSpPr>
          <p:cNvPr id="10" name="Text 8"/>
          <p:cNvSpPr/>
          <p:nvPr/>
        </p:nvSpPr>
        <p:spPr>
          <a:xfrm>
            <a:off x="548640" y="2606040"/>
            <a:ext cx="5029200" cy="1097280"/>
          </a:xfrm>
          <a:prstGeom prst="rect">
            <a:avLst/>
          </a:prstGeom>
          <a:noFill/>
          <a:ln/>
        </p:spPr>
        <p:txBody>
          <a:bodyPr wrap="square" rtlCol="0" anchor="t"/>
          <a:lstStyle/>
          <a:p>
            <a:pPr indent="0" marL="0">
              <a:buNone/>
            </a:pPr>
            <a:r>
              <a:rPr lang="en-US" sz="1500" b="1" i="1" dirty="0">
                <a:solidFill>
                  <a:srgbClr val="1A1A1A"/>
                </a:solidFill>
                <a:latin typeface="Cambria" pitchFamily="34" charset="0"/>
                <a:ea typeface="Cambria" pitchFamily="34" charset="-122"/>
                <a:cs typeface="Cambria" pitchFamily="34" charset="-120"/>
              </a:rPr>
              <a:t>Weights store everything</a:t>
            </a:r>
            <a:endParaRPr lang="en-US" sz="1500" dirty="0"/>
          </a:p>
        </p:txBody>
      </p:sp>
      <p:sp>
        <p:nvSpPr>
          <p:cNvPr id="11" name="Text 9"/>
          <p:cNvSpPr/>
          <p:nvPr/>
        </p:nvSpPr>
        <p:spPr>
          <a:xfrm>
            <a:off x="6035040" y="2606040"/>
            <a:ext cx="5577840" cy="1097280"/>
          </a:xfrm>
          <a:prstGeom prst="rect">
            <a:avLst/>
          </a:prstGeom>
          <a:noFill/>
          <a:ln/>
        </p:spPr>
        <p:txBody>
          <a:bodyPr wrap="square" rtlCol="0" anchor="t"/>
          <a:lstStyle/>
          <a:p>
            <a:pPr indent="0" marL="0">
              <a:buNone/>
            </a:pPr>
            <a:r>
              <a:rPr lang="en-US" sz="1200" dirty="0">
                <a:solidFill>
                  <a:srgbClr val="5A5A5A"/>
                </a:solidFill>
                <a:latin typeface="Calibri" pitchFamily="34" charset="0"/>
                <a:ea typeface="Calibri" pitchFamily="34" charset="-122"/>
                <a:cs typeface="Calibri" pitchFamily="34" charset="-120"/>
              </a:rPr>
              <a:t>A trained model's weights are sensitive intellectual property and may also leak training data. Model extraction and inversion attacks exploit exactly this property, treating weights as the asset to steal.</a:t>
            </a:r>
            <a:endParaRPr lang="en-US" sz="1200" dirty="0"/>
          </a:p>
        </p:txBody>
      </p:sp>
      <p:sp>
        <p:nvSpPr>
          <p:cNvPr id="12" name="Shape 10"/>
          <p:cNvSpPr/>
          <p:nvPr/>
        </p:nvSpPr>
        <p:spPr>
          <a:xfrm>
            <a:off x="548640" y="3749040"/>
            <a:ext cx="11064240" cy="0"/>
          </a:xfrm>
          <a:prstGeom prst="line">
            <a:avLst/>
          </a:prstGeom>
          <a:noFill/>
          <a:ln w="6350">
            <a:solidFill>
              <a:srgbClr val="D4D4CF"/>
            </a:solidFill>
            <a:prstDash val="solid"/>
          </a:ln>
        </p:spPr>
      </p:sp>
      <p:sp>
        <p:nvSpPr>
          <p:cNvPr id="13" name="Text 11"/>
          <p:cNvSpPr/>
          <p:nvPr/>
        </p:nvSpPr>
        <p:spPr>
          <a:xfrm>
            <a:off x="548640" y="3840480"/>
            <a:ext cx="5029200" cy="1097280"/>
          </a:xfrm>
          <a:prstGeom prst="rect">
            <a:avLst/>
          </a:prstGeom>
          <a:noFill/>
          <a:ln/>
        </p:spPr>
        <p:txBody>
          <a:bodyPr wrap="square" rtlCol="0" anchor="t"/>
          <a:lstStyle/>
          <a:p>
            <a:pPr indent="0" marL="0">
              <a:buNone/>
            </a:pPr>
            <a:r>
              <a:rPr lang="en-US" sz="1500" b="1" i="1" dirty="0">
                <a:solidFill>
                  <a:srgbClr val="1A1A1A"/>
                </a:solidFill>
                <a:latin typeface="Cambria" pitchFamily="34" charset="0"/>
                <a:ea typeface="Cambria" pitchFamily="34" charset="-122"/>
                <a:cs typeface="Cambria" pitchFamily="34" charset="-120"/>
              </a:rPr>
              <a:t>Activation functions are non-linear</a:t>
            </a:r>
            <a:endParaRPr lang="en-US" sz="1500" dirty="0"/>
          </a:p>
        </p:txBody>
      </p:sp>
      <p:sp>
        <p:nvSpPr>
          <p:cNvPr id="14" name="Text 12"/>
          <p:cNvSpPr/>
          <p:nvPr/>
        </p:nvSpPr>
        <p:spPr>
          <a:xfrm>
            <a:off x="6035040" y="3840480"/>
            <a:ext cx="5577840" cy="1097280"/>
          </a:xfrm>
          <a:prstGeom prst="rect">
            <a:avLst/>
          </a:prstGeom>
          <a:noFill/>
          <a:ln/>
        </p:spPr>
        <p:txBody>
          <a:bodyPr wrap="square" rtlCol="0" anchor="t"/>
          <a:lstStyle/>
          <a:p>
            <a:pPr indent="0" marL="0">
              <a:buNone/>
            </a:pPr>
            <a:r>
              <a:rPr lang="en-US" sz="1200" dirty="0">
                <a:solidFill>
                  <a:srgbClr val="5A5A5A"/>
                </a:solidFill>
                <a:latin typeface="Calibri" pitchFamily="34" charset="0"/>
                <a:ea typeface="Calibri" pitchFamily="34" charset="-122"/>
                <a:cs typeface="Calibri" pitchFamily="34" charset="-120"/>
              </a:rPr>
              <a:t>The same non-linearity that gives networks their power also makes them sensitive to small perturbations in input space — the mathematical basis of adversarial examples that fool classifiers with imperceptible changes.</a:t>
            </a:r>
            <a:endParaRPr lang="en-US" sz="1200" dirty="0"/>
          </a:p>
        </p:txBody>
      </p:sp>
      <p:sp>
        <p:nvSpPr>
          <p:cNvPr id="15" name="Shape 13"/>
          <p:cNvSpPr/>
          <p:nvPr/>
        </p:nvSpPr>
        <p:spPr>
          <a:xfrm>
            <a:off x="548640" y="4983480"/>
            <a:ext cx="11064240" cy="0"/>
          </a:xfrm>
          <a:prstGeom prst="line">
            <a:avLst/>
          </a:prstGeom>
          <a:noFill/>
          <a:ln w="6350">
            <a:solidFill>
              <a:srgbClr val="D4D4CF"/>
            </a:solidFill>
            <a:prstDash val="solid"/>
          </a:ln>
        </p:spPr>
      </p:sp>
      <p:sp>
        <p:nvSpPr>
          <p:cNvPr id="16" name="Text 14"/>
          <p:cNvSpPr/>
          <p:nvPr/>
        </p:nvSpPr>
        <p:spPr>
          <a:xfrm>
            <a:off x="548640" y="5074920"/>
            <a:ext cx="5029200" cy="1097280"/>
          </a:xfrm>
          <a:prstGeom prst="rect">
            <a:avLst/>
          </a:prstGeom>
          <a:noFill/>
          <a:ln/>
        </p:spPr>
        <p:txBody>
          <a:bodyPr wrap="square" rtlCol="0" anchor="t"/>
          <a:lstStyle/>
          <a:p>
            <a:pPr indent="0" marL="0">
              <a:buNone/>
            </a:pPr>
            <a:r>
              <a:rPr lang="en-US" sz="1500" b="1" i="1" dirty="0">
                <a:solidFill>
                  <a:srgbClr val="1A1A1A"/>
                </a:solidFill>
                <a:latin typeface="Cambria" pitchFamily="34" charset="0"/>
                <a:ea typeface="Cambria" pitchFamily="34" charset="-122"/>
                <a:cs typeface="Cambria" pitchFamily="34" charset="-120"/>
              </a:rPr>
              <a:t>Loss is just a number</a:t>
            </a:r>
            <a:endParaRPr lang="en-US" sz="1500" dirty="0"/>
          </a:p>
        </p:txBody>
      </p:sp>
      <p:sp>
        <p:nvSpPr>
          <p:cNvPr id="17" name="Text 15"/>
          <p:cNvSpPr/>
          <p:nvPr/>
        </p:nvSpPr>
        <p:spPr>
          <a:xfrm>
            <a:off x="6035040" y="5074920"/>
            <a:ext cx="5577840" cy="1097280"/>
          </a:xfrm>
          <a:prstGeom prst="rect">
            <a:avLst/>
          </a:prstGeom>
          <a:noFill/>
          <a:ln/>
        </p:spPr>
        <p:txBody>
          <a:bodyPr wrap="square" rtlCol="0" anchor="t"/>
          <a:lstStyle/>
          <a:p>
            <a:pPr indent="0" marL="0">
              <a:buNone/>
            </a:pPr>
            <a:r>
              <a:rPr lang="en-US" sz="1200" dirty="0">
                <a:solidFill>
                  <a:srgbClr val="5A5A5A"/>
                </a:solidFill>
                <a:latin typeface="Calibri" pitchFamily="34" charset="0"/>
                <a:ea typeface="Calibri" pitchFamily="34" charset="-122"/>
                <a:cs typeface="Calibri" pitchFamily="34" charset="-120"/>
              </a:rPr>
              <a:t>An optimizer minimizes whatever loss is defined; if the loss does not reflect what we actually want, the model will exploit the gap. Backdoor and label-poisoning attacks weaponize this gap.</a:t>
            </a:r>
            <a:endParaRPr lang="en-US" sz="1200" dirty="0"/>
          </a:p>
        </p:txBody>
      </p:sp>
      <p:sp>
        <p:nvSpPr>
          <p:cNvPr id="18" name="Shape 16"/>
          <p:cNvSpPr/>
          <p:nvPr/>
        </p:nvSpPr>
        <p:spPr>
          <a:xfrm>
            <a:off x="548640" y="6446520"/>
            <a:ext cx="11064240" cy="0"/>
          </a:xfrm>
          <a:prstGeom prst="line">
            <a:avLst/>
          </a:prstGeom>
          <a:noFill/>
          <a:ln w="6350">
            <a:solidFill>
              <a:srgbClr val="D4D4CF"/>
            </a:solidFill>
            <a:prstDash val="solid"/>
          </a:ln>
        </p:spPr>
      </p:sp>
      <p:sp>
        <p:nvSpPr>
          <p:cNvPr id="19" name="Text 17"/>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20" name="Text 18"/>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100" b="1" spc="600" kern="0" dirty="0">
                <a:solidFill>
                  <a:srgbClr val="A14552"/>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48640" y="868680"/>
            <a:ext cx="10972800" cy="1645920"/>
          </a:xfrm>
          <a:prstGeom prst="rect">
            <a:avLst/>
          </a:prstGeom>
          <a:noFill/>
          <a:ln/>
        </p:spPr>
        <p:txBody>
          <a:bodyPr wrap="square" rtlCol="0" anchor="ctr"/>
          <a:lstStyle/>
          <a:p>
            <a:pPr indent="0" marL="0">
              <a:buNone/>
            </a:pPr>
            <a:r>
              <a:rPr lang="en-US" sz="4800" b="1" dirty="0">
                <a:solidFill>
                  <a:srgbClr val="FAFAF6"/>
                </a:solidFill>
                <a:latin typeface="Cambria" pitchFamily="34" charset="0"/>
                <a:ea typeface="Cambria" pitchFamily="34" charset="-122"/>
                <a:cs typeface="Cambria" pitchFamily="34" charset="-120"/>
              </a:rPr>
              <a:t>Six components,</a:t>
            </a:r>
            <a:endParaRPr lang="en-US" sz="4800" dirty="0"/>
          </a:p>
          <a:p>
            <a:pPr indent="0" marL="0">
              <a:buNone/>
            </a:pPr>
            <a:r>
              <a:rPr lang="en-US" sz="4800" b="1" dirty="0">
                <a:solidFill>
                  <a:srgbClr val="FAFAF6"/>
                </a:solidFill>
                <a:latin typeface="Cambria" pitchFamily="34" charset="0"/>
                <a:ea typeface="Cambria" pitchFamily="34" charset="-122"/>
                <a:cs typeface="Cambria" pitchFamily="34" charset="-120"/>
              </a:rPr>
              <a:t>one learning machine.</a:t>
            </a:r>
            <a:endParaRPr lang="en-US" sz="4800" dirty="0"/>
          </a:p>
        </p:txBody>
      </p:sp>
      <p:sp>
        <p:nvSpPr>
          <p:cNvPr id="4" name="Shape 2"/>
          <p:cNvSpPr/>
          <p:nvPr/>
        </p:nvSpPr>
        <p:spPr>
          <a:xfrm>
            <a:off x="548640" y="2606040"/>
            <a:ext cx="2286000" cy="0"/>
          </a:xfrm>
          <a:prstGeom prst="line">
            <a:avLst/>
          </a:prstGeom>
          <a:noFill/>
          <a:ln w="19050">
            <a:solidFill>
              <a:srgbClr val="A14552"/>
            </a:solidFill>
            <a:prstDash val="solid"/>
          </a:ln>
        </p:spPr>
      </p:sp>
      <p:sp>
        <p:nvSpPr>
          <p:cNvPr id="5" name="Text 3"/>
          <p:cNvSpPr/>
          <p:nvPr/>
        </p:nvSpPr>
        <p:spPr>
          <a:xfrm>
            <a:off x="548640" y="2880360"/>
            <a:ext cx="10972800" cy="1005840"/>
          </a:xfrm>
          <a:prstGeom prst="rect">
            <a:avLst/>
          </a:prstGeom>
          <a:noFill/>
          <a:ln/>
        </p:spPr>
        <p:txBody>
          <a:bodyPr wrap="square" rtlCol="0" anchor="ctr"/>
          <a:lstStyle/>
          <a:p>
            <a:pPr indent="0" marL="0">
              <a:spcAft>
                <a:spcPts val="600"/>
              </a:spcAft>
              <a:buNone/>
            </a:pPr>
            <a:r>
              <a:rPr lang="en-US" sz="1600" i="1" dirty="0">
                <a:solidFill>
                  <a:srgbClr val="FAFAF6"/>
                </a:solidFill>
                <a:latin typeface="Calibri" pitchFamily="34" charset="0"/>
                <a:ea typeface="Calibri" pitchFamily="34" charset="-122"/>
                <a:cs typeface="Calibri" pitchFamily="34" charset="-120"/>
              </a:rPr>
              <a:t>Layers stack and structure. Neurons compute. Weights store every learned association. Activation functions inject the non-linearity that makes complex learning possible. The loss function defines what “good” means in numerical terms. The optimizer turns the gradient of that loss into systematic weight updates.</a:t>
            </a:r>
            <a:endParaRPr lang="en-US" sz="1600" dirty="0"/>
          </a:p>
        </p:txBody>
      </p:sp>
      <p:sp>
        <p:nvSpPr>
          <p:cNvPr id="6" name="Text 4"/>
          <p:cNvSpPr/>
          <p:nvPr/>
        </p:nvSpPr>
        <p:spPr>
          <a:xfrm>
            <a:off x="548640" y="3931920"/>
            <a:ext cx="10972800" cy="1371600"/>
          </a:xfrm>
          <a:prstGeom prst="rect">
            <a:avLst/>
          </a:prstGeom>
          <a:noFill/>
          <a:ln/>
        </p:spPr>
        <p:txBody>
          <a:bodyPr wrap="square" rtlCol="0" anchor="ctr"/>
          <a:lstStyle/>
          <a:p>
            <a:pPr indent="0" marL="0">
              <a:spcAft>
                <a:spcPts val="600"/>
              </a:spcAft>
              <a:buNone/>
            </a:pPr>
            <a:r>
              <a:rPr lang="en-US" sz="1400" dirty="0">
                <a:solidFill>
                  <a:srgbClr val="C8C8C2"/>
                </a:solidFill>
                <a:latin typeface="Calibri" pitchFamily="34" charset="0"/>
                <a:ea typeface="Calibri" pitchFamily="34" charset="-122"/>
                <a:cs typeface="Calibri" pitchFamily="34" charset="-120"/>
              </a:rPr>
              <a:t>Visualizing these components made the most important shift in my understanding: a neural network is not a black box, it is a long, traceable chain of small operations — each of which can be inspected, audited, or attacked. That insight is what carries forward from this artifact into the rest of my graduate study and into my applied work in AI security.</a:t>
            </a:r>
            <a:endParaRPr lang="en-US" sz="1400" dirty="0"/>
          </a:p>
        </p:txBody>
      </p:sp>
      <p:sp>
        <p:nvSpPr>
          <p:cNvPr id="7" name="Shape 5"/>
          <p:cNvSpPr/>
          <p:nvPr/>
        </p:nvSpPr>
        <p:spPr>
          <a:xfrm>
            <a:off x="548640" y="5577840"/>
            <a:ext cx="3520440" cy="548640"/>
          </a:xfrm>
          <a:prstGeom prst="rect">
            <a:avLst/>
          </a:prstGeom>
          <a:solidFill>
            <a:srgbClr val="2A2A2A"/>
          </a:solidFill>
          <a:ln w="6350">
            <a:solidFill>
              <a:srgbClr val="A14552"/>
            </a:solidFill>
            <a:prstDash val="solid"/>
          </a:ln>
        </p:spPr>
      </p:sp>
      <p:sp>
        <p:nvSpPr>
          <p:cNvPr id="8" name="Text 6"/>
          <p:cNvSpPr/>
          <p:nvPr/>
        </p:nvSpPr>
        <p:spPr>
          <a:xfrm>
            <a:off x="548640" y="5577840"/>
            <a:ext cx="3520440" cy="548640"/>
          </a:xfrm>
          <a:prstGeom prst="rect">
            <a:avLst/>
          </a:prstGeom>
          <a:noFill/>
          <a:ln/>
        </p:spPr>
        <p:txBody>
          <a:bodyPr wrap="square" rtlCol="0" anchor="ctr"/>
          <a:lstStyle/>
          <a:p>
            <a:pPr algn="ctr" indent="0" marL="0">
              <a:buNone/>
            </a:pPr>
            <a:r>
              <a:rPr lang="en-US" sz="1100" b="1" spc="200" kern="0" dirty="0">
                <a:solidFill>
                  <a:srgbClr val="FAFAF6"/>
                </a:solidFill>
                <a:latin typeface="Calibri" pitchFamily="34" charset="0"/>
                <a:ea typeface="Calibri" pitchFamily="34" charset="-122"/>
                <a:cs typeface="Calibri" pitchFamily="34" charset="-120"/>
              </a:rPr>
              <a:t>DEPTH unlocks non-linear capacity</a:t>
            </a:r>
            <a:endParaRPr lang="en-US" sz="1100" dirty="0"/>
          </a:p>
        </p:txBody>
      </p:sp>
      <p:sp>
        <p:nvSpPr>
          <p:cNvPr id="9" name="Shape 7"/>
          <p:cNvSpPr/>
          <p:nvPr/>
        </p:nvSpPr>
        <p:spPr>
          <a:xfrm>
            <a:off x="4279392" y="5577840"/>
            <a:ext cx="3520440" cy="548640"/>
          </a:xfrm>
          <a:prstGeom prst="rect">
            <a:avLst/>
          </a:prstGeom>
          <a:solidFill>
            <a:srgbClr val="2A2A2A"/>
          </a:solidFill>
          <a:ln w="6350">
            <a:solidFill>
              <a:srgbClr val="A14552"/>
            </a:solidFill>
            <a:prstDash val="solid"/>
          </a:ln>
        </p:spPr>
      </p:sp>
      <p:sp>
        <p:nvSpPr>
          <p:cNvPr id="10" name="Text 8"/>
          <p:cNvSpPr/>
          <p:nvPr/>
        </p:nvSpPr>
        <p:spPr>
          <a:xfrm>
            <a:off x="4279392" y="5577840"/>
            <a:ext cx="3520440" cy="548640"/>
          </a:xfrm>
          <a:prstGeom prst="rect">
            <a:avLst/>
          </a:prstGeom>
          <a:noFill/>
          <a:ln/>
        </p:spPr>
        <p:txBody>
          <a:bodyPr wrap="square" rtlCol="0" anchor="ctr"/>
          <a:lstStyle/>
          <a:p>
            <a:pPr algn="ctr" indent="0" marL="0">
              <a:buNone/>
            </a:pPr>
            <a:r>
              <a:rPr lang="en-US" sz="1100" b="1" spc="200" kern="0" dirty="0">
                <a:solidFill>
                  <a:srgbClr val="FAFAF6"/>
                </a:solidFill>
                <a:latin typeface="Calibri" pitchFamily="34" charset="0"/>
                <a:ea typeface="Calibri" pitchFamily="34" charset="-122"/>
                <a:cs typeface="Calibri" pitchFamily="34" charset="-120"/>
              </a:rPr>
              <a:t>WEIGHTS are the learned knowledge</a:t>
            </a:r>
            <a:endParaRPr lang="en-US" sz="1100" dirty="0"/>
          </a:p>
        </p:txBody>
      </p:sp>
      <p:sp>
        <p:nvSpPr>
          <p:cNvPr id="11" name="Shape 9"/>
          <p:cNvSpPr/>
          <p:nvPr/>
        </p:nvSpPr>
        <p:spPr>
          <a:xfrm>
            <a:off x="8010144" y="5577840"/>
            <a:ext cx="3520440" cy="548640"/>
          </a:xfrm>
          <a:prstGeom prst="rect">
            <a:avLst/>
          </a:prstGeom>
          <a:solidFill>
            <a:srgbClr val="2A2A2A"/>
          </a:solidFill>
          <a:ln w="6350">
            <a:solidFill>
              <a:srgbClr val="A14552"/>
            </a:solidFill>
            <a:prstDash val="solid"/>
          </a:ln>
        </p:spPr>
      </p:sp>
      <p:sp>
        <p:nvSpPr>
          <p:cNvPr id="12" name="Text 10"/>
          <p:cNvSpPr/>
          <p:nvPr/>
        </p:nvSpPr>
        <p:spPr>
          <a:xfrm>
            <a:off x="8010144" y="5577840"/>
            <a:ext cx="3520440" cy="548640"/>
          </a:xfrm>
          <a:prstGeom prst="rect">
            <a:avLst/>
          </a:prstGeom>
          <a:noFill/>
          <a:ln/>
        </p:spPr>
        <p:txBody>
          <a:bodyPr wrap="square" rtlCol="0" anchor="ctr"/>
          <a:lstStyle/>
          <a:p>
            <a:pPr algn="ctr" indent="0" marL="0">
              <a:buNone/>
            </a:pPr>
            <a:r>
              <a:rPr lang="en-US" sz="1100" b="1" spc="200" kern="0" dirty="0">
                <a:solidFill>
                  <a:srgbClr val="FAFAF6"/>
                </a:solidFill>
                <a:latin typeface="Calibri" pitchFamily="34" charset="0"/>
                <a:ea typeface="Calibri" pitchFamily="34" charset="-122"/>
                <a:cs typeface="Calibri" pitchFamily="34" charset="-120"/>
              </a:rPr>
              <a:t>OPTIMIZATION makes learning possible</a:t>
            </a:r>
            <a:endParaRPr lang="en-US" sz="1100" dirty="0"/>
          </a:p>
        </p:txBody>
      </p:sp>
      <p:sp>
        <p:nvSpPr>
          <p:cNvPr id="13" name="Text 11"/>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6"/>
        </a:solidFill>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rtlCol="0" anchor="ctr"/>
          <a:lstStyle/>
          <a:p>
            <a:pPr indent="0" marL="0">
              <a:buNone/>
            </a:pPr>
            <a:r>
              <a:rPr lang="en-US" sz="1000" b="1" spc="400" kern="0" dirty="0">
                <a:solidFill>
                  <a:srgbClr val="7A1F2B"/>
                </a:solidFill>
                <a:latin typeface="Calibri" pitchFamily="34" charset="0"/>
                <a:ea typeface="Calibri" pitchFamily="34" charset="-122"/>
                <a:cs typeface="Calibri" pitchFamily="34" charset="-120"/>
              </a:rPr>
              <a:t>REFERENCES</a:t>
            </a:r>
            <a:endParaRPr lang="en-US" sz="1000" dirty="0"/>
          </a:p>
        </p:txBody>
      </p:sp>
      <p:sp>
        <p:nvSpPr>
          <p:cNvPr id="3" name="Text 1"/>
          <p:cNvSpPr/>
          <p:nvPr/>
        </p:nvSpPr>
        <p:spPr>
          <a:xfrm>
            <a:off x="4206240" y="320040"/>
            <a:ext cx="7406640" cy="292608"/>
          </a:xfrm>
          <a:prstGeom prst="rect">
            <a:avLst/>
          </a:prstGeom>
          <a:noFill/>
          <a:ln/>
        </p:spPr>
        <p:txBody>
          <a:bodyPr wrap="square" rtlCol="0" anchor="ctr"/>
          <a:lstStyle/>
          <a:p>
            <a:pPr algn="r" indent="0" marL="0">
              <a:buNone/>
            </a:pPr>
            <a:r>
              <a:rPr lang="en-US" sz="900" i="1" spc="200" kern="0" dirty="0">
                <a:solidFill>
                  <a:srgbClr val="5A5A5A"/>
                </a:solidFill>
                <a:latin typeface="Calibri" pitchFamily="34" charset="0"/>
                <a:ea typeface="Calibri" pitchFamily="34" charset="-122"/>
                <a:cs typeface="Calibri" pitchFamily="34" charset="-120"/>
              </a:rPr>
              <a:t>RISHITHA REDDY  ·  ARTIFACT 02  ·  AIML-501</a:t>
            </a:r>
            <a:endParaRPr lang="en-US" sz="900" dirty="0"/>
          </a:p>
        </p:txBody>
      </p:sp>
      <p:sp>
        <p:nvSpPr>
          <p:cNvPr id="4" name="Shape 2"/>
          <p:cNvSpPr/>
          <p:nvPr/>
        </p:nvSpPr>
        <p:spPr>
          <a:xfrm>
            <a:off x="548640" y="713232"/>
            <a:ext cx="11064240" cy="0"/>
          </a:xfrm>
          <a:prstGeom prst="line">
            <a:avLst/>
          </a:prstGeom>
          <a:noFill/>
          <a:ln w="6350">
            <a:solidFill>
              <a:srgbClr val="D4D4CF"/>
            </a:solidFill>
            <a:prstDash val="solid"/>
          </a:ln>
        </p:spPr>
      </p:sp>
      <p:sp>
        <p:nvSpPr>
          <p:cNvPr id="5" name="Text 3"/>
          <p:cNvSpPr/>
          <p:nvPr/>
        </p:nvSpPr>
        <p:spPr>
          <a:xfrm>
            <a:off x="548640" y="868680"/>
            <a:ext cx="1097280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References</a:t>
            </a:r>
            <a:endParaRPr lang="en-US" sz="3200" dirty="0"/>
          </a:p>
        </p:txBody>
      </p:sp>
      <p:sp>
        <p:nvSpPr>
          <p:cNvPr id="6" name="Shape 4"/>
          <p:cNvSpPr/>
          <p:nvPr/>
        </p:nvSpPr>
        <p:spPr>
          <a:xfrm>
            <a:off x="548640" y="1554480"/>
            <a:ext cx="1828800" cy="0"/>
          </a:xfrm>
          <a:prstGeom prst="line">
            <a:avLst/>
          </a:prstGeom>
          <a:noFill/>
          <a:ln w="19050">
            <a:solidFill>
              <a:srgbClr val="7A1F2B"/>
            </a:solidFill>
            <a:prstDash val="solid"/>
          </a:ln>
        </p:spPr>
      </p:sp>
      <p:sp>
        <p:nvSpPr>
          <p:cNvPr id="7" name="Text 5"/>
          <p:cNvSpPr/>
          <p:nvPr/>
        </p:nvSpPr>
        <p:spPr>
          <a:xfrm>
            <a:off x="548640" y="1874520"/>
            <a:ext cx="11064240" cy="77724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Google for Developers. (2025, March 5). </a:t>
            </a:r>
            <a:pPr indent="0" marL="0">
              <a:spcAft>
                <a:spcPts val="600"/>
              </a:spcAft>
              <a:buNone/>
            </a:pPr>
            <a:r>
              <a:rPr lang="en-US" sz="1300" i="1" dirty="0">
                <a:solidFill>
                  <a:srgbClr val="1A1A1A"/>
                </a:solidFill>
                <a:latin typeface="Calibri" pitchFamily="34" charset="0"/>
                <a:ea typeface="Calibri" pitchFamily="34" charset="-122"/>
                <a:cs typeface="Calibri" pitchFamily="34" charset="-120"/>
              </a:rPr>
              <a:t>Neural networks</a:t>
            </a:r>
            <a:pPr indent="0" marL="0">
              <a:spcAft>
                <a:spcPts val="600"/>
              </a:spcAft>
              <a:buNone/>
            </a:pPr>
            <a:r>
              <a:rPr lang="en-US" sz="1300" dirty="0">
                <a:solidFill>
                  <a:srgbClr val="1A1A1A"/>
                </a:solidFill>
                <a:latin typeface="Calibri" pitchFamily="34" charset="0"/>
                <a:ea typeface="Calibri" pitchFamily="34" charset="-122"/>
                <a:cs typeface="Calibri" pitchFamily="34" charset="-120"/>
              </a:rPr>
              <a:t>. Machine Learning Crash Course. https://developers.google.com/machine-learning/crash-course/neural-networks</a:t>
            </a:r>
            <a:endParaRPr lang="en-US" sz="1300" dirty="0"/>
          </a:p>
        </p:txBody>
      </p:sp>
      <p:sp>
        <p:nvSpPr>
          <p:cNvPr id="8" name="Text 6"/>
          <p:cNvSpPr/>
          <p:nvPr/>
        </p:nvSpPr>
        <p:spPr>
          <a:xfrm>
            <a:off x="548640" y="2743200"/>
            <a:ext cx="11064240" cy="77724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IBM. (n.d.). </a:t>
            </a:r>
            <a:pPr indent="0" marL="0">
              <a:spcAft>
                <a:spcPts val="600"/>
              </a:spcAft>
              <a:buNone/>
            </a:pPr>
            <a:r>
              <a:rPr lang="en-US" sz="1300" i="1" dirty="0">
                <a:solidFill>
                  <a:srgbClr val="1A1A1A"/>
                </a:solidFill>
                <a:latin typeface="Calibri" pitchFamily="34" charset="0"/>
                <a:ea typeface="Calibri" pitchFamily="34" charset="-122"/>
                <a:cs typeface="Calibri" pitchFamily="34" charset="-120"/>
              </a:rPr>
              <a:t>What is a neural network?</a:t>
            </a:r>
            <a:pPr indent="0" marL="0">
              <a:spcAft>
                <a:spcPts val="600"/>
              </a:spcAft>
              <a:buNone/>
            </a:pPr>
            <a:r>
              <a:rPr lang="en-US" sz="1300" dirty="0">
                <a:solidFill>
                  <a:srgbClr val="1A1A1A"/>
                </a:solidFill>
                <a:latin typeface="Calibri" pitchFamily="34" charset="0"/>
                <a:ea typeface="Calibri" pitchFamily="34" charset="-122"/>
                <a:cs typeface="Calibri" pitchFamily="34" charset="-120"/>
              </a:rPr>
              <a:t> https://www.ibm.com/think/topics/neural-networks</a:t>
            </a:r>
            <a:endParaRPr lang="en-US" sz="1300" dirty="0"/>
          </a:p>
        </p:txBody>
      </p:sp>
      <p:sp>
        <p:nvSpPr>
          <p:cNvPr id="9" name="Text 7"/>
          <p:cNvSpPr/>
          <p:nvPr/>
        </p:nvSpPr>
        <p:spPr>
          <a:xfrm>
            <a:off x="548640" y="3611880"/>
            <a:ext cx="11064240" cy="77724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Sanderson, G. [3Blue1Brown]. (2017, October 5). </a:t>
            </a:r>
            <a:pPr indent="0" marL="0">
              <a:spcAft>
                <a:spcPts val="600"/>
              </a:spcAft>
              <a:buNone/>
            </a:pPr>
            <a:r>
              <a:rPr lang="en-US" sz="1300" i="1" dirty="0">
                <a:solidFill>
                  <a:srgbClr val="1A1A1A"/>
                </a:solidFill>
                <a:latin typeface="Calibri" pitchFamily="34" charset="0"/>
                <a:ea typeface="Calibri" pitchFamily="34" charset="-122"/>
                <a:cs typeface="Calibri" pitchFamily="34" charset="-120"/>
              </a:rPr>
              <a:t>But what is a neural network? | Deep learning, chapter 1</a:t>
            </a:r>
            <a:pPr indent="0" marL="0">
              <a:spcAft>
                <a:spcPts val="600"/>
              </a:spcAft>
              <a:buNone/>
            </a:pPr>
            <a:r>
              <a:rPr lang="en-US" sz="1300" dirty="0">
                <a:solidFill>
                  <a:srgbClr val="1A1A1A"/>
                </a:solidFill>
                <a:latin typeface="Calibri" pitchFamily="34" charset="0"/>
                <a:ea typeface="Calibri" pitchFamily="34" charset="-122"/>
                <a:cs typeface="Calibri" pitchFamily="34" charset="-120"/>
              </a:rPr>
              <a:t> [Video]. YouTube. https://www.youtube.com/watch?v=aircAruvnKk</a:t>
            </a:r>
            <a:endParaRPr lang="en-US" sz="1300" dirty="0"/>
          </a:p>
        </p:txBody>
      </p:sp>
      <p:sp>
        <p:nvSpPr>
          <p:cNvPr id="10" name="Text 8"/>
          <p:cNvSpPr/>
          <p:nvPr/>
        </p:nvSpPr>
        <p:spPr>
          <a:xfrm>
            <a:off x="548640" y="4480560"/>
            <a:ext cx="11064240" cy="777240"/>
          </a:xfrm>
          <a:prstGeom prst="rect">
            <a:avLst/>
          </a:prstGeom>
          <a:noFill/>
          <a:ln/>
        </p:spPr>
        <p:txBody>
          <a:bodyPr wrap="square" rtlCol="0" anchor="t"/>
          <a:lstStyle/>
          <a:p>
            <a:pPr indent="0" marL="0">
              <a:spcAft>
                <a:spcPts val="600"/>
              </a:spcAft>
              <a:buNone/>
            </a:pPr>
            <a:r>
              <a:rPr lang="en-US" sz="1300" dirty="0">
                <a:solidFill>
                  <a:srgbClr val="1A1A1A"/>
                </a:solidFill>
                <a:latin typeface="Calibri" pitchFamily="34" charset="0"/>
                <a:ea typeface="Calibri" pitchFamily="34" charset="-122"/>
                <a:cs typeface="Calibri" pitchFamily="34" charset="-120"/>
              </a:rPr>
              <a:t>TensorFlow. (n.d.). </a:t>
            </a:r>
            <a:pPr indent="0" marL="0">
              <a:spcAft>
                <a:spcPts val="600"/>
              </a:spcAft>
              <a:buNone/>
            </a:pPr>
            <a:r>
              <a:rPr lang="en-US" sz="1300" i="1" dirty="0">
                <a:solidFill>
                  <a:srgbClr val="1A1A1A"/>
                </a:solidFill>
                <a:latin typeface="Calibri" pitchFamily="34" charset="0"/>
                <a:ea typeface="Calibri" pitchFamily="34" charset="-122"/>
                <a:cs typeface="Calibri" pitchFamily="34" charset="-120"/>
              </a:rPr>
              <a:t>Neural Network Playground</a:t>
            </a:r>
            <a:pPr indent="0" marL="0">
              <a:spcAft>
                <a:spcPts val="600"/>
              </a:spcAft>
              <a:buNone/>
            </a:pPr>
            <a:r>
              <a:rPr lang="en-US" sz="1300" dirty="0">
                <a:solidFill>
                  <a:srgbClr val="1A1A1A"/>
                </a:solidFill>
                <a:latin typeface="Calibri" pitchFamily="34" charset="0"/>
                <a:ea typeface="Calibri" pitchFamily="34" charset="-122"/>
                <a:cs typeface="Calibri" pitchFamily="34" charset="-120"/>
              </a:rPr>
              <a:t>. https://playground.tensorflow.org/</a:t>
            </a:r>
            <a:endParaRPr lang="en-US" sz="1300" dirty="0"/>
          </a:p>
        </p:txBody>
      </p:sp>
      <p:sp>
        <p:nvSpPr>
          <p:cNvPr id="11" name="Shape 9"/>
          <p:cNvSpPr/>
          <p:nvPr/>
        </p:nvSpPr>
        <p:spPr>
          <a:xfrm>
            <a:off x="548640" y="6446520"/>
            <a:ext cx="11064240" cy="0"/>
          </a:xfrm>
          <a:prstGeom prst="line">
            <a:avLst/>
          </a:prstGeom>
          <a:noFill/>
          <a:ln w="6350">
            <a:solidFill>
              <a:srgbClr val="D4D4CF"/>
            </a:solidFill>
            <a:prstDash val="solid"/>
          </a:ln>
        </p:spPr>
      </p:sp>
      <p:sp>
        <p:nvSpPr>
          <p:cNvPr id="12" name="Text 10"/>
          <p:cNvSpPr/>
          <p:nvPr/>
        </p:nvSpPr>
        <p:spPr>
          <a:xfrm>
            <a:off x="548640" y="6510528"/>
            <a:ext cx="5486400" cy="274320"/>
          </a:xfrm>
          <a:prstGeom prst="rect">
            <a:avLst/>
          </a:prstGeom>
          <a:noFill/>
          <a:ln/>
        </p:spPr>
        <p:txBody>
          <a:bodyPr wrap="square" rtlCol="0" anchor="ctr"/>
          <a:lstStyle/>
          <a:p>
            <a:pPr indent="0" marL="0">
              <a:buNone/>
            </a:pPr>
            <a:r>
              <a:rPr lang="en-US" sz="900" i="1" dirty="0">
                <a:solidFill>
                  <a:srgbClr val="5A5A5A"/>
                </a:solidFill>
                <a:latin typeface="Calibri" pitchFamily="34" charset="0"/>
                <a:ea typeface="Calibri" pitchFamily="34" charset="-122"/>
                <a:cs typeface="Calibri" pitchFamily="34" charset="-120"/>
              </a:rPr>
              <a:t>Neural Network Components</a:t>
            </a:r>
            <a:endParaRPr lang="en-US" sz="900" dirty="0"/>
          </a:p>
        </p:txBody>
      </p:sp>
      <p:sp>
        <p:nvSpPr>
          <p:cNvPr id="13" name="Text 11"/>
          <p:cNvSpPr/>
          <p:nvPr/>
        </p:nvSpPr>
        <p:spPr>
          <a:xfrm>
            <a:off x="10972800" y="6510528"/>
            <a:ext cx="64008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2026-05-24T07:32:30Z</dcterms:created>
  <dcterms:modified xsi:type="dcterms:W3CDTF">2026-05-24T07:32:30Z</dcterms:modified>
</cp:coreProperties>
</file>